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3" r:id="rId6"/>
    <p:sldId id="264" r:id="rId7"/>
    <p:sldId id="260" r:id="rId8"/>
    <p:sldId id="265" r:id="rId9"/>
    <p:sldId id="266" r:id="rId10"/>
    <p:sldId id="267" r:id="rId11"/>
    <p:sldId id="269" r:id="rId12"/>
    <p:sldId id="261" r:id="rId13"/>
    <p:sldId id="268" r:id="rId14"/>
    <p:sldId id="270" r:id="rId15"/>
    <p:sldId id="262"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showGuides="1">
      <p:cViewPr varScale="1">
        <p:scale>
          <a:sx n="87" d="100"/>
          <a:sy n="87" d="100"/>
        </p:scale>
        <p:origin x="340"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53F9B8-1F3E-4899-A2DE-FB7D6CF7B29E}" type="datetimeFigureOut">
              <a:rPr lang="zh-CN" altLang="en-US" smtClean="0"/>
              <a:t>2025/12/15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4A037F-BB8A-4BE2-8A0A-47D3212FF95F}" type="slidenum">
              <a:rPr lang="zh-CN" altLang="en-US" smtClean="0"/>
              <a:t>‹#›</a:t>
            </a:fld>
            <a:endParaRPr lang="zh-CN" altLang="en-US"/>
          </a:p>
        </p:txBody>
      </p:sp>
    </p:spTree>
    <p:extLst>
      <p:ext uri="{BB962C8B-B14F-4D97-AF65-F5344CB8AC3E}">
        <p14:creationId xmlns:p14="http://schemas.microsoft.com/office/powerpoint/2010/main" val="3965635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A3A9CB-70CF-28CB-106E-063F728C104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52A0032-B4F3-063F-B1F8-CC4AFAA920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25911B5-85B5-CE92-8D0D-3B251BD78270}"/>
              </a:ext>
            </a:extLst>
          </p:cNvPr>
          <p:cNvSpPr>
            <a:spLocks noGrp="1"/>
          </p:cNvSpPr>
          <p:nvPr>
            <p:ph type="dt" sz="half" idx="10"/>
          </p:nvPr>
        </p:nvSpPr>
        <p:spPr/>
        <p:txBody>
          <a:bodyPr/>
          <a:lstStyle/>
          <a:p>
            <a:fld id="{3E73D58E-F952-415C-A6C4-78293FE45500}" type="datetimeFigureOut">
              <a:rPr lang="zh-CN" altLang="en-US" smtClean="0"/>
              <a:t>2025/12/15</a:t>
            </a:fld>
            <a:endParaRPr lang="zh-CN" altLang="en-US"/>
          </a:p>
        </p:txBody>
      </p:sp>
      <p:sp>
        <p:nvSpPr>
          <p:cNvPr id="5" name="页脚占位符 4">
            <a:extLst>
              <a:ext uri="{FF2B5EF4-FFF2-40B4-BE49-F238E27FC236}">
                <a16:creationId xmlns:a16="http://schemas.microsoft.com/office/drawing/2014/main" id="{29ECC6CF-BE6F-F3C2-A3CD-4CAC3E763DE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A143A36-D4CE-0157-018E-30CC8809AC48}"/>
              </a:ext>
            </a:extLst>
          </p:cNvPr>
          <p:cNvSpPr>
            <a:spLocks noGrp="1"/>
          </p:cNvSpPr>
          <p:nvPr>
            <p:ph type="sldNum" sz="quarter" idx="12"/>
          </p:nvPr>
        </p:nvSpPr>
        <p:spPr/>
        <p:txBody>
          <a:bodyPr/>
          <a:lstStyle/>
          <a:p>
            <a:fld id="{B48C070B-64FC-44F8-A7A9-19841B5A010C}" type="slidenum">
              <a:rPr lang="zh-CN" altLang="en-US" smtClean="0"/>
              <a:t>‹#›</a:t>
            </a:fld>
            <a:endParaRPr lang="zh-CN" altLang="en-US"/>
          </a:p>
        </p:txBody>
      </p:sp>
    </p:spTree>
    <p:extLst>
      <p:ext uri="{BB962C8B-B14F-4D97-AF65-F5344CB8AC3E}">
        <p14:creationId xmlns:p14="http://schemas.microsoft.com/office/powerpoint/2010/main" val="1876995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6EEF2F-D44B-9490-832F-23A903A5547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F7970E7-C2E8-9AC2-D20A-C3AE62467B2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DA4925-3B7B-1DFB-4EBD-6D4E37FA2802}"/>
              </a:ext>
            </a:extLst>
          </p:cNvPr>
          <p:cNvSpPr>
            <a:spLocks noGrp="1"/>
          </p:cNvSpPr>
          <p:nvPr>
            <p:ph type="dt" sz="half" idx="10"/>
          </p:nvPr>
        </p:nvSpPr>
        <p:spPr/>
        <p:txBody>
          <a:bodyPr/>
          <a:lstStyle/>
          <a:p>
            <a:fld id="{3E73D58E-F952-415C-A6C4-78293FE45500}" type="datetimeFigureOut">
              <a:rPr lang="zh-CN" altLang="en-US" smtClean="0"/>
              <a:t>2025/12/15</a:t>
            </a:fld>
            <a:endParaRPr lang="zh-CN" altLang="en-US"/>
          </a:p>
        </p:txBody>
      </p:sp>
      <p:sp>
        <p:nvSpPr>
          <p:cNvPr id="5" name="页脚占位符 4">
            <a:extLst>
              <a:ext uri="{FF2B5EF4-FFF2-40B4-BE49-F238E27FC236}">
                <a16:creationId xmlns:a16="http://schemas.microsoft.com/office/drawing/2014/main" id="{6EF57A84-D729-6117-6070-67C4E2C2B92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CD6C261-3EDC-24E2-B8D1-97C7852B3FD1}"/>
              </a:ext>
            </a:extLst>
          </p:cNvPr>
          <p:cNvSpPr>
            <a:spLocks noGrp="1"/>
          </p:cNvSpPr>
          <p:nvPr>
            <p:ph type="sldNum" sz="quarter" idx="12"/>
          </p:nvPr>
        </p:nvSpPr>
        <p:spPr/>
        <p:txBody>
          <a:bodyPr/>
          <a:lstStyle/>
          <a:p>
            <a:fld id="{B48C070B-64FC-44F8-A7A9-19841B5A010C}" type="slidenum">
              <a:rPr lang="zh-CN" altLang="en-US" smtClean="0"/>
              <a:t>‹#›</a:t>
            </a:fld>
            <a:endParaRPr lang="zh-CN" altLang="en-US"/>
          </a:p>
        </p:txBody>
      </p:sp>
    </p:spTree>
    <p:extLst>
      <p:ext uri="{BB962C8B-B14F-4D97-AF65-F5344CB8AC3E}">
        <p14:creationId xmlns:p14="http://schemas.microsoft.com/office/powerpoint/2010/main" val="2939417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5B28C9-DACA-64D5-C516-6FD59F5AF50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484B022-9D57-9481-1367-E956D82A2B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7BD35FB-3A2D-D17E-B1B9-65F22A901FE6}"/>
              </a:ext>
            </a:extLst>
          </p:cNvPr>
          <p:cNvSpPr>
            <a:spLocks noGrp="1"/>
          </p:cNvSpPr>
          <p:nvPr>
            <p:ph type="dt" sz="half" idx="10"/>
          </p:nvPr>
        </p:nvSpPr>
        <p:spPr/>
        <p:txBody>
          <a:bodyPr/>
          <a:lstStyle/>
          <a:p>
            <a:fld id="{3E73D58E-F952-415C-A6C4-78293FE45500}" type="datetimeFigureOut">
              <a:rPr lang="zh-CN" altLang="en-US" smtClean="0"/>
              <a:t>2025/12/15</a:t>
            </a:fld>
            <a:endParaRPr lang="zh-CN" altLang="en-US"/>
          </a:p>
        </p:txBody>
      </p:sp>
      <p:sp>
        <p:nvSpPr>
          <p:cNvPr id="5" name="页脚占位符 4">
            <a:extLst>
              <a:ext uri="{FF2B5EF4-FFF2-40B4-BE49-F238E27FC236}">
                <a16:creationId xmlns:a16="http://schemas.microsoft.com/office/drawing/2014/main" id="{81F65460-65EA-0D99-8664-1ECDE0977AF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CD3570D-1557-CABF-E089-6281C739AA2B}"/>
              </a:ext>
            </a:extLst>
          </p:cNvPr>
          <p:cNvSpPr>
            <a:spLocks noGrp="1"/>
          </p:cNvSpPr>
          <p:nvPr>
            <p:ph type="sldNum" sz="quarter" idx="12"/>
          </p:nvPr>
        </p:nvSpPr>
        <p:spPr/>
        <p:txBody>
          <a:bodyPr/>
          <a:lstStyle/>
          <a:p>
            <a:fld id="{B48C070B-64FC-44F8-A7A9-19841B5A010C}" type="slidenum">
              <a:rPr lang="zh-CN" altLang="en-US" smtClean="0"/>
              <a:t>‹#›</a:t>
            </a:fld>
            <a:endParaRPr lang="zh-CN" altLang="en-US"/>
          </a:p>
        </p:txBody>
      </p:sp>
    </p:spTree>
    <p:extLst>
      <p:ext uri="{BB962C8B-B14F-4D97-AF65-F5344CB8AC3E}">
        <p14:creationId xmlns:p14="http://schemas.microsoft.com/office/powerpoint/2010/main" val="3777297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49407F-3150-B326-5B11-371FE688563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AD75856-514F-642F-DAE5-A7CFFC99D94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F34B3FC-6794-F5DC-0E86-43866EAA807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CEE330C-2B21-22AC-A032-92B9A666238E}"/>
              </a:ext>
            </a:extLst>
          </p:cNvPr>
          <p:cNvSpPr>
            <a:spLocks noGrp="1"/>
          </p:cNvSpPr>
          <p:nvPr>
            <p:ph type="dt" sz="half" idx="10"/>
          </p:nvPr>
        </p:nvSpPr>
        <p:spPr/>
        <p:txBody>
          <a:bodyPr/>
          <a:lstStyle/>
          <a:p>
            <a:fld id="{3E73D58E-F952-415C-A6C4-78293FE45500}" type="datetimeFigureOut">
              <a:rPr lang="zh-CN" altLang="en-US" smtClean="0"/>
              <a:t>2025/12/15</a:t>
            </a:fld>
            <a:endParaRPr lang="zh-CN" altLang="en-US"/>
          </a:p>
        </p:txBody>
      </p:sp>
      <p:sp>
        <p:nvSpPr>
          <p:cNvPr id="6" name="页脚占位符 5">
            <a:extLst>
              <a:ext uri="{FF2B5EF4-FFF2-40B4-BE49-F238E27FC236}">
                <a16:creationId xmlns:a16="http://schemas.microsoft.com/office/drawing/2014/main" id="{37C206DB-9D21-ACB3-3C09-257548DCC05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ADCC2AA-FE0C-28FF-016C-3D75BFEF9DDC}"/>
              </a:ext>
            </a:extLst>
          </p:cNvPr>
          <p:cNvSpPr>
            <a:spLocks noGrp="1"/>
          </p:cNvSpPr>
          <p:nvPr>
            <p:ph type="sldNum" sz="quarter" idx="12"/>
          </p:nvPr>
        </p:nvSpPr>
        <p:spPr/>
        <p:txBody>
          <a:bodyPr/>
          <a:lstStyle/>
          <a:p>
            <a:fld id="{B48C070B-64FC-44F8-A7A9-19841B5A010C}" type="slidenum">
              <a:rPr lang="zh-CN" altLang="en-US" smtClean="0"/>
              <a:t>‹#›</a:t>
            </a:fld>
            <a:endParaRPr lang="zh-CN" altLang="en-US"/>
          </a:p>
        </p:txBody>
      </p:sp>
    </p:spTree>
    <p:extLst>
      <p:ext uri="{BB962C8B-B14F-4D97-AF65-F5344CB8AC3E}">
        <p14:creationId xmlns:p14="http://schemas.microsoft.com/office/powerpoint/2010/main" val="3061370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D8D3A8-AAA6-73F8-F66F-2453057FB09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5B3FB24-CD27-813B-F057-A46811E3D3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1880845-6A53-542A-F5C1-FA9A4D438A7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9AC012E-2EA5-B0CC-F427-3DC6BA04BB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7BC28BC-9DE8-AD40-DC02-6C8F0E3A264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F0D30B5-A8A8-E7EB-1643-D7841A94D2D6}"/>
              </a:ext>
            </a:extLst>
          </p:cNvPr>
          <p:cNvSpPr>
            <a:spLocks noGrp="1"/>
          </p:cNvSpPr>
          <p:nvPr>
            <p:ph type="dt" sz="half" idx="10"/>
          </p:nvPr>
        </p:nvSpPr>
        <p:spPr/>
        <p:txBody>
          <a:bodyPr/>
          <a:lstStyle/>
          <a:p>
            <a:fld id="{3E73D58E-F952-415C-A6C4-78293FE45500}" type="datetimeFigureOut">
              <a:rPr lang="zh-CN" altLang="en-US" smtClean="0"/>
              <a:t>2025/12/15</a:t>
            </a:fld>
            <a:endParaRPr lang="zh-CN" altLang="en-US"/>
          </a:p>
        </p:txBody>
      </p:sp>
      <p:sp>
        <p:nvSpPr>
          <p:cNvPr id="8" name="页脚占位符 7">
            <a:extLst>
              <a:ext uri="{FF2B5EF4-FFF2-40B4-BE49-F238E27FC236}">
                <a16:creationId xmlns:a16="http://schemas.microsoft.com/office/drawing/2014/main" id="{65757580-6719-5AC5-10C1-E482D2D93F6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DCB8C85-50B9-542C-EE8A-F209F1A7F9F8}"/>
              </a:ext>
            </a:extLst>
          </p:cNvPr>
          <p:cNvSpPr>
            <a:spLocks noGrp="1"/>
          </p:cNvSpPr>
          <p:nvPr>
            <p:ph type="sldNum" sz="quarter" idx="12"/>
          </p:nvPr>
        </p:nvSpPr>
        <p:spPr/>
        <p:txBody>
          <a:bodyPr/>
          <a:lstStyle/>
          <a:p>
            <a:fld id="{B48C070B-64FC-44F8-A7A9-19841B5A010C}" type="slidenum">
              <a:rPr lang="zh-CN" altLang="en-US" smtClean="0"/>
              <a:t>‹#›</a:t>
            </a:fld>
            <a:endParaRPr lang="zh-CN" altLang="en-US"/>
          </a:p>
        </p:txBody>
      </p:sp>
    </p:spTree>
    <p:extLst>
      <p:ext uri="{BB962C8B-B14F-4D97-AF65-F5344CB8AC3E}">
        <p14:creationId xmlns:p14="http://schemas.microsoft.com/office/powerpoint/2010/main" val="2982872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F96E74-A34F-9D27-3CFD-84BF6AF28B2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7EAD55D-CC0B-C28B-4EE7-F844B06011D2}"/>
              </a:ext>
            </a:extLst>
          </p:cNvPr>
          <p:cNvSpPr>
            <a:spLocks noGrp="1"/>
          </p:cNvSpPr>
          <p:nvPr>
            <p:ph type="dt" sz="half" idx="10"/>
          </p:nvPr>
        </p:nvSpPr>
        <p:spPr/>
        <p:txBody>
          <a:bodyPr/>
          <a:lstStyle/>
          <a:p>
            <a:fld id="{3E73D58E-F952-415C-A6C4-78293FE45500}" type="datetimeFigureOut">
              <a:rPr lang="zh-CN" altLang="en-US" smtClean="0"/>
              <a:t>2025/12/15</a:t>
            </a:fld>
            <a:endParaRPr lang="zh-CN" altLang="en-US"/>
          </a:p>
        </p:txBody>
      </p:sp>
      <p:sp>
        <p:nvSpPr>
          <p:cNvPr id="4" name="页脚占位符 3">
            <a:extLst>
              <a:ext uri="{FF2B5EF4-FFF2-40B4-BE49-F238E27FC236}">
                <a16:creationId xmlns:a16="http://schemas.microsoft.com/office/drawing/2014/main" id="{FFF4DDB6-747D-BA43-2D8D-90F05A21F41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5D78283-8BA5-5873-17FB-EB10CADD8C14}"/>
              </a:ext>
            </a:extLst>
          </p:cNvPr>
          <p:cNvSpPr>
            <a:spLocks noGrp="1"/>
          </p:cNvSpPr>
          <p:nvPr>
            <p:ph type="sldNum" sz="quarter" idx="12"/>
          </p:nvPr>
        </p:nvSpPr>
        <p:spPr/>
        <p:txBody>
          <a:bodyPr/>
          <a:lstStyle/>
          <a:p>
            <a:fld id="{B48C070B-64FC-44F8-A7A9-19841B5A010C}" type="slidenum">
              <a:rPr lang="zh-CN" altLang="en-US" smtClean="0"/>
              <a:t>‹#›</a:t>
            </a:fld>
            <a:endParaRPr lang="zh-CN" altLang="en-US"/>
          </a:p>
        </p:txBody>
      </p:sp>
    </p:spTree>
    <p:extLst>
      <p:ext uri="{BB962C8B-B14F-4D97-AF65-F5344CB8AC3E}">
        <p14:creationId xmlns:p14="http://schemas.microsoft.com/office/powerpoint/2010/main" val="2274052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12E125A-A21F-840E-CF1C-E244E00ABDC6}"/>
              </a:ext>
            </a:extLst>
          </p:cNvPr>
          <p:cNvSpPr>
            <a:spLocks noGrp="1"/>
          </p:cNvSpPr>
          <p:nvPr>
            <p:ph type="dt" sz="half" idx="10"/>
          </p:nvPr>
        </p:nvSpPr>
        <p:spPr/>
        <p:txBody>
          <a:bodyPr/>
          <a:lstStyle/>
          <a:p>
            <a:fld id="{3E73D58E-F952-415C-A6C4-78293FE45500}" type="datetimeFigureOut">
              <a:rPr lang="zh-CN" altLang="en-US" smtClean="0"/>
              <a:t>2025/12/15</a:t>
            </a:fld>
            <a:endParaRPr lang="zh-CN" altLang="en-US"/>
          </a:p>
        </p:txBody>
      </p:sp>
      <p:sp>
        <p:nvSpPr>
          <p:cNvPr id="3" name="页脚占位符 2">
            <a:extLst>
              <a:ext uri="{FF2B5EF4-FFF2-40B4-BE49-F238E27FC236}">
                <a16:creationId xmlns:a16="http://schemas.microsoft.com/office/drawing/2014/main" id="{EB234252-D97A-1842-9E6F-D5C4A174BD0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EDA3066-6209-6079-1240-F2F4ACFB7E88}"/>
              </a:ext>
            </a:extLst>
          </p:cNvPr>
          <p:cNvSpPr>
            <a:spLocks noGrp="1"/>
          </p:cNvSpPr>
          <p:nvPr>
            <p:ph type="sldNum" sz="quarter" idx="12"/>
          </p:nvPr>
        </p:nvSpPr>
        <p:spPr/>
        <p:txBody>
          <a:bodyPr/>
          <a:lstStyle/>
          <a:p>
            <a:fld id="{B48C070B-64FC-44F8-A7A9-19841B5A010C}" type="slidenum">
              <a:rPr lang="zh-CN" altLang="en-US" smtClean="0"/>
              <a:t>‹#›</a:t>
            </a:fld>
            <a:endParaRPr lang="zh-CN" altLang="en-US"/>
          </a:p>
        </p:txBody>
      </p:sp>
    </p:spTree>
    <p:extLst>
      <p:ext uri="{BB962C8B-B14F-4D97-AF65-F5344CB8AC3E}">
        <p14:creationId xmlns:p14="http://schemas.microsoft.com/office/powerpoint/2010/main" val="2782232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013727-86E2-3A7E-4A7E-1818589E98A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F801F16-7B64-DFB8-A9F2-C8DD71DA5F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466F821-B7CE-4B82-E1AA-5F8AB7827C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4265EBC-C4BB-E44A-E94A-9AACF2EEB5C9}"/>
              </a:ext>
            </a:extLst>
          </p:cNvPr>
          <p:cNvSpPr>
            <a:spLocks noGrp="1"/>
          </p:cNvSpPr>
          <p:nvPr>
            <p:ph type="dt" sz="half" idx="10"/>
          </p:nvPr>
        </p:nvSpPr>
        <p:spPr/>
        <p:txBody>
          <a:bodyPr/>
          <a:lstStyle/>
          <a:p>
            <a:fld id="{3E73D58E-F952-415C-A6C4-78293FE45500}" type="datetimeFigureOut">
              <a:rPr lang="zh-CN" altLang="en-US" smtClean="0"/>
              <a:t>2025/12/15</a:t>
            </a:fld>
            <a:endParaRPr lang="zh-CN" altLang="en-US"/>
          </a:p>
        </p:txBody>
      </p:sp>
      <p:sp>
        <p:nvSpPr>
          <p:cNvPr id="6" name="页脚占位符 5">
            <a:extLst>
              <a:ext uri="{FF2B5EF4-FFF2-40B4-BE49-F238E27FC236}">
                <a16:creationId xmlns:a16="http://schemas.microsoft.com/office/drawing/2014/main" id="{5F50B8FD-9741-F636-DC30-D40E7CCDE75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1745155-C2B4-57F0-81E7-B39D1887CA9C}"/>
              </a:ext>
            </a:extLst>
          </p:cNvPr>
          <p:cNvSpPr>
            <a:spLocks noGrp="1"/>
          </p:cNvSpPr>
          <p:nvPr>
            <p:ph type="sldNum" sz="quarter" idx="12"/>
          </p:nvPr>
        </p:nvSpPr>
        <p:spPr/>
        <p:txBody>
          <a:bodyPr/>
          <a:lstStyle/>
          <a:p>
            <a:fld id="{B48C070B-64FC-44F8-A7A9-19841B5A010C}" type="slidenum">
              <a:rPr lang="zh-CN" altLang="en-US" smtClean="0"/>
              <a:t>‹#›</a:t>
            </a:fld>
            <a:endParaRPr lang="zh-CN" altLang="en-US"/>
          </a:p>
        </p:txBody>
      </p:sp>
    </p:spTree>
    <p:extLst>
      <p:ext uri="{BB962C8B-B14F-4D97-AF65-F5344CB8AC3E}">
        <p14:creationId xmlns:p14="http://schemas.microsoft.com/office/powerpoint/2010/main" val="3710581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655198-9FE0-CBAC-16B4-890D16B92BC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F83E28D-9552-9876-12BE-DF53D14105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C02F336-EEDE-CC11-AD9A-1C2EB28C4E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7EFC0A1-4CE2-D04C-8C1B-692534A08F8C}"/>
              </a:ext>
            </a:extLst>
          </p:cNvPr>
          <p:cNvSpPr>
            <a:spLocks noGrp="1"/>
          </p:cNvSpPr>
          <p:nvPr>
            <p:ph type="dt" sz="half" idx="10"/>
          </p:nvPr>
        </p:nvSpPr>
        <p:spPr/>
        <p:txBody>
          <a:bodyPr/>
          <a:lstStyle/>
          <a:p>
            <a:fld id="{3E73D58E-F952-415C-A6C4-78293FE45500}" type="datetimeFigureOut">
              <a:rPr lang="zh-CN" altLang="en-US" smtClean="0"/>
              <a:t>2025/12/15</a:t>
            </a:fld>
            <a:endParaRPr lang="zh-CN" altLang="en-US"/>
          </a:p>
        </p:txBody>
      </p:sp>
      <p:sp>
        <p:nvSpPr>
          <p:cNvPr id="6" name="页脚占位符 5">
            <a:extLst>
              <a:ext uri="{FF2B5EF4-FFF2-40B4-BE49-F238E27FC236}">
                <a16:creationId xmlns:a16="http://schemas.microsoft.com/office/drawing/2014/main" id="{99AF191D-3F75-9E8C-415D-7CBA45E82D5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0101E02-BA54-ACC7-F603-6119ECE38C8D}"/>
              </a:ext>
            </a:extLst>
          </p:cNvPr>
          <p:cNvSpPr>
            <a:spLocks noGrp="1"/>
          </p:cNvSpPr>
          <p:nvPr>
            <p:ph type="sldNum" sz="quarter" idx="12"/>
          </p:nvPr>
        </p:nvSpPr>
        <p:spPr/>
        <p:txBody>
          <a:bodyPr/>
          <a:lstStyle/>
          <a:p>
            <a:fld id="{B48C070B-64FC-44F8-A7A9-19841B5A010C}" type="slidenum">
              <a:rPr lang="zh-CN" altLang="en-US" smtClean="0"/>
              <a:t>‹#›</a:t>
            </a:fld>
            <a:endParaRPr lang="zh-CN" altLang="en-US"/>
          </a:p>
        </p:txBody>
      </p:sp>
    </p:spTree>
    <p:extLst>
      <p:ext uri="{BB962C8B-B14F-4D97-AF65-F5344CB8AC3E}">
        <p14:creationId xmlns:p14="http://schemas.microsoft.com/office/powerpoint/2010/main" val="303933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788615-F3BE-3325-57A3-B8CCC3CE110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FA66155-E7C0-4611-4D4C-DE30D6D09C1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CA74656-F85E-53DB-F7CB-E994E4581397}"/>
              </a:ext>
            </a:extLst>
          </p:cNvPr>
          <p:cNvSpPr>
            <a:spLocks noGrp="1"/>
          </p:cNvSpPr>
          <p:nvPr>
            <p:ph type="dt" sz="half" idx="10"/>
          </p:nvPr>
        </p:nvSpPr>
        <p:spPr/>
        <p:txBody>
          <a:bodyPr/>
          <a:lstStyle/>
          <a:p>
            <a:fld id="{3E73D58E-F952-415C-A6C4-78293FE45500}" type="datetimeFigureOut">
              <a:rPr lang="zh-CN" altLang="en-US" smtClean="0"/>
              <a:t>2025/12/15</a:t>
            </a:fld>
            <a:endParaRPr lang="zh-CN" altLang="en-US"/>
          </a:p>
        </p:txBody>
      </p:sp>
      <p:sp>
        <p:nvSpPr>
          <p:cNvPr id="5" name="页脚占位符 4">
            <a:extLst>
              <a:ext uri="{FF2B5EF4-FFF2-40B4-BE49-F238E27FC236}">
                <a16:creationId xmlns:a16="http://schemas.microsoft.com/office/drawing/2014/main" id="{71E1F944-0034-EC66-4501-47D5A2520A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F6B53AF-9889-9459-EAE6-019479B77522}"/>
              </a:ext>
            </a:extLst>
          </p:cNvPr>
          <p:cNvSpPr>
            <a:spLocks noGrp="1"/>
          </p:cNvSpPr>
          <p:nvPr>
            <p:ph type="sldNum" sz="quarter" idx="12"/>
          </p:nvPr>
        </p:nvSpPr>
        <p:spPr/>
        <p:txBody>
          <a:bodyPr/>
          <a:lstStyle/>
          <a:p>
            <a:fld id="{B48C070B-64FC-44F8-A7A9-19841B5A010C}" type="slidenum">
              <a:rPr lang="zh-CN" altLang="en-US" smtClean="0"/>
              <a:t>‹#›</a:t>
            </a:fld>
            <a:endParaRPr lang="zh-CN" altLang="en-US"/>
          </a:p>
        </p:txBody>
      </p:sp>
    </p:spTree>
    <p:extLst>
      <p:ext uri="{BB962C8B-B14F-4D97-AF65-F5344CB8AC3E}">
        <p14:creationId xmlns:p14="http://schemas.microsoft.com/office/powerpoint/2010/main" val="1365901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D3ECF97-C837-43D1-FE52-8C84DB864A0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4857ADD-C880-B2E6-9C02-1325657C171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028CB26-A56C-11CC-6A10-131707F4D848}"/>
              </a:ext>
            </a:extLst>
          </p:cNvPr>
          <p:cNvSpPr>
            <a:spLocks noGrp="1"/>
          </p:cNvSpPr>
          <p:nvPr>
            <p:ph type="dt" sz="half" idx="10"/>
          </p:nvPr>
        </p:nvSpPr>
        <p:spPr/>
        <p:txBody>
          <a:bodyPr/>
          <a:lstStyle/>
          <a:p>
            <a:fld id="{3E73D58E-F952-415C-A6C4-78293FE45500}" type="datetimeFigureOut">
              <a:rPr lang="zh-CN" altLang="en-US" smtClean="0"/>
              <a:t>2025/12/15</a:t>
            </a:fld>
            <a:endParaRPr lang="zh-CN" altLang="en-US"/>
          </a:p>
        </p:txBody>
      </p:sp>
      <p:sp>
        <p:nvSpPr>
          <p:cNvPr id="5" name="页脚占位符 4">
            <a:extLst>
              <a:ext uri="{FF2B5EF4-FFF2-40B4-BE49-F238E27FC236}">
                <a16:creationId xmlns:a16="http://schemas.microsoft.com/office/drawing/2014/main" id="{E372D806-A9E1-4E11-A899-087057284E3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3D28D9D-A576-C133-1068-B2E81CD0A59E}"/>
              </a:ext>
            </a:extLst>
          </p:cNvPr>
          <p:cNvSpPr>
            <a:spLocks noGrp="1"/>
          </p:cNvSpPr>
          <p:nvPr>
            <p:ph type="sldNum" sz="quarter" idx="12"/>
          </p:nvPr>
        </p:nvSpPr>
        <p:spPr/>
        <p:txBody>
          <a:bodyPr/>
          <a:lstStyle/>
          <a:p>
            <a:fld id="{B48C070B-64FC-44F8-A7A9-19841B5A010C}" type="slidenum">
              <a:rPr lang="zh-CN" altLang="en-US" smtClean="0"/>
              <a:t>‹#›</a:t>
            </a:fld>
            <a:endParaRPr lang="zh-CN" altLang="en-US"/>
          </a:p>
        </p:txBody>
      </p:sp>
    </p:spTree>
    <p:extLst>
      <p:ext uri="{BB962C8B-B14F-4D97-AF65-F5344CB8AC3E}">
        <p14:creationId xmlns:p14="http://schemas.microsoft.com/office/powerpoint/2010/main" val="3147219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35C318A-5CB0-9ED1-9559-0501807DF1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6A6AC3A-2172-7B0C-DE8C-AE5EFFFCE7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971831B-4DB3-49FE-D539-D6D4E3735F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73D58E-F952-415C-A6C4-78293FE45500}" type="datetimeFigureOut">
              <a:rPr lang="zh-CN" altLang="en-US" smtClean="0"/>
              <a:t>2025/12/15</a:t>
            </a:fld>
            <a:endParaRPr lang="zh-CN" altLang="en-US"/>
          </a:p>
        </p:txBody>
      </p:sp>
      <p:sp>
        <p:nvSpPr>
          <p:cNvPr id="5" name="页脚占位符 4">
            <a:extLst>
              <a:ext uri="{FF2B5EF4-FFF2-40B4-BE49-F238E27FC236}">
                <a16:creationId xmlns:a16="http://schemas.microsoft.com/office/drawing/2014/main" id="{28110C39-0352-E349-E2C8-6AD5237625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2791F15F-FDF0-EA29-7200-35D5211190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8C070B-64FC-44F8-A7A9-19841B5A010C}" type="slidenum">
              <a:rPr lang="zh-CN" altLang="en-US" smtClean="0"/>
              <a:t>‹#›</a:t>
            </a:fld>
            <a:endParaRPr lang="zh-CN" altLang="en-US"/>
          </a:p>
        </p:txBody>
      </p:sp>
    </p:spTree>
    <p:extLst>
      <p:ext uri="{BB962C8B-B14F-4D97-AF65-F5344CB8AC3E}">
        <p14:creationId xmlns:p14="http://schemas.microsoft.com/office/powerpoint/2010/main" val="2217980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B0486BF-F09A-856D-DD8A-9704F73BB54F}"/>
              </a:ext>
            </a:extLst>
          </p:cNvPr>
          <p:cNvSpPr txBox="1"/>
          <p:nvPr/>
        </p:nvSpPr>
        <p:spPr>
          <a:xfrm>
            <a:off x="2305151" y="2954226"/>
            <a:ext cx="8284876" cy="769441"/>
          </a:xfrm>
          <a:prstGeom prst="rect">
            <a:avLst/>
          </a:prstGeom>
          <a:noFill/>
        </p:spPr>
        <p:txBody>
          <a:bodyPr wrap="square" rtlCol="0">
            <a:spAutoFit/>
          </a:bodyPr>
          <a:lstStyle/>
          <a:p>
            <a:r>
              <a:rPr lang="en-US" altLang="zh-CN" sz="4400" b="1" dirty="0">
                <a:latin typeface="Times New Roman" panose="02020603050405020304" pitchFamily="18" charset="0"/>
                <a:cs typeface="Times New Roman" panose="02020603050405020304" pitchFamily="18" charset="0"/>
              </a:rPr>
              <a:t>Final Project – LCD &amp; AC motor</a:t>
            </a:r>
            <a:endParaRPr lang="zh-CN" altLang="en-US"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1295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65BE6B9-ACF8-B0D7-A5E4-47A9AEAA0270}"/>
              </a:ext>
            </a:extLst>
          </p:cNvPr>
          <p:cNvSpPr txBox="1"/>
          <p:nvPr/>
        </p:nvSpPr>
        <p:spPr>
          <a:xfrm>
            <a:off x="547382" y="386501"/>
            <a:ext cx="6094602" cy="584775"/>
          </a:xfrm>
          <a:prstGeom prst="rect">
            <a:avLst/>
          </a:prstGeom>
          <a:noFill/>
        </p:spPr>
        <p:txBody>
          <a:bodyPr wrap="square">
            <a:spAutoFit/>
          </a:bodyPr>
          <a:lstStyle/>
          <a:p>
            <a:r>
              <a:rPr lang="en-US" altLang="zh-CN" sz="3200" b="1" i="0" dirty="0">
                <a:effectLst/>
                <a:latin typeface="Times New Roman" panose="02020603050405020304" pitchFamily="18" charset="0"/>
                <a:cs typeface="Times New Roman" panose="02020603050405020304" pitchFamily="18" charset="0"/>
              </a:rPr>
              <a:t>Liquid Crystal Display</a:t>
            </a:r>
            <a:endParaRPr lang="zh-CN" altLang="en-US" sz="3200" b="1" dirty="0">
              <a:latin typeface="Times New Roman" panose="02020603050405020304" pitchFamily="18" charset="0"/>
              <a:cs typeface="Times New Roman" panose="02020603050405020304" pitchFamily="18" charset="0"/>
            </a:endParaRPr>
          </a:p>
        </p:txBody>
      </p:sp>
      <p:pic>
        <p:nvPicPr>
          <p:cNvPr id="1026" name="Picture 2" descr="LCD Vs LED: What Is LCD&amp;LED? (2024 Definitive Guide!)">
            <a:extLst>
              <a:ext uri="{FF2B5EF4-FFF2-40B4-BE49-F238E27FC236}">
                <a16:creationId xmlns:a16="http://schemas.microsoft.com/office/drawing/2014/main" id="{4F0463C5-4D9F-5171-87A0-434E2C73D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5371" y="1074774"/>
            <a:ext cx="923925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0618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05B6066-C591-8ED1-B94F-FDA8954EFB60}"/>
              </a:ext>
            </a:extLst>
          </p:cNvPr>
          <p:cNvPicPr>
            <a:picLocks noChangeAspect="1"/>
          </p:cNvPicPr>
          <p:nvPr/>
        </p:nvPicPr>
        <p:blipFill>
          <a:blip r:embed="rId2"/>
          <a:stretch>
            <a:fillRect/>
          </a:stretch>
        </p:blipFill>
        <p:spPr>
          <a:xfrm>
            <a:off x="5312401" y="228153"/>
            <a:ext cx="6373114" cy="6401693"/>
          </a:xfrm>
          <a:prstGeom prst="rect">
            <a:avLst/>
          </a:prstGeom>
        </p:spPr>
      </p:pic>
      <p:sp>
        <p:nvSpPr>
          <p:cNvPr id="4" name="文本框 3">
            <a:extLst>
              <a:ext uri="{FF2B5EF4-FFF2-40B4-BE49-F238E27FC236}">
                <a16:creationId xmlns:a16="http://schemas.microsoft.com/office/drawing/2014/main" id="{7E6ACE6C-DF00-A0AB-BD89-1BA4CCAF04C1}"/>
              </a:ext>
            </a:extLst>
          </p:cNvPr>
          <p:cNvSpPr txBox="1"/>
          <p:nvPr/>
        </p:nvSpPr>
        <p:spPr>
          <a:xfrm>
            <a:off x="547382" y="386501"/>
            <a:ext cx="6094602" cy="584775"/>
          </a:xfrm>
          <a:prstGeom prst="rect">
            <a:avLst/>
          </a:prstGeom>
          <a:noFill/>
        </p:spPr>
        <p:txBody>
          <a:bodyPr wrap="square">
            <a:spAutoFit/>
          </a:bodyPr>
          <a:lstStyle/>
          <a:p>
            <a:r>
              <a:rPr lang="en-US" altLang="zh-CN" sz="3200" b="1" dirty="0">
                <a:latin typeface="Times New Roman" panose="02020603050405020304" pitchFamily="18" charset="0"/>
                <a:cs typeface="Times New Roman" panose="02020603050405020304" pitchFamily="18" charset="0"/>
              </a:rPr>
              <a:t>Basic parameters</a:t>
            </a:r>
            <a:endParaRPr lang="zh-CN" altLang="en-US" sz="3200" b="1"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CA5AD547-2E42-A258-9B18-483F53FC5444}"/>
              </a:ext>
            </a:extLst>
          </p:cNvPr>
          <p:cNvSpPr txBox="1"/>
          <p:nvPr/>
        </p:nvSpPr>
        <p:spPr>
          <a:xfrm>
            <a:off x="666323" y="678888"/>
            <a:ext cx="6094602" cy="2934458"/>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altLang="zh-CN" sz="2400" i="0" dirty="0">
                <a:effectLst/>
                <a:latin typeface="Times New Roman" panose="02020603050405020304" pitchFamily="18" charset="0"/>
                <a:cs typeface="Times New Roman" panose="02020603050405020304" pitchFamily="18" charset="0"/>
              </a:rPr>
              <a:t>Pixel</a:t>
            </a:r>
          </a:p>
          <a:p>
            <a:pPr marL="342900" indent="-342900">
              <a:lnSpc>
                <a:spcPct val="200000"/>
              </a:lnSpc>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Resolution</a:t>
            </a:r>
          </a:p>
          <a:p>
            <a:pPr marL="342900" indent="-342900">
              <a:lnSpc>
                <a:spcPct val="200000"/>
              </a:lnSpc>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Size</a:t>
            </a:r>
          </a:p>
          <a:p>
            <a:pPr marL="342900" indent="-342900">
              <a:lnSpc>
                <a:spcPct val="200000"/>
              </a:lnSpc>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Color depth</a:t>
            </a:r>
            <a:endParaRPr lang="zh-CN" altLang="en-US" sz="2400"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5292F500-EEC3-4214-2E77-CDD3294F7597}"/>
              </a:ext>
            </a:extLst>
          </p:cNvPr>
          <p:cNvPicPr>
            <a:picLocks noChangeAspect="1"/>
          </p:cNvPicPr>
          <p:nvPr/>
        </p:nvPicPr>
        <p:blipFill>
          <a:blip r:embed="rId3"/>
          <a:stretch>
            <a:fillRect/>
          </a:stretch>
        </p:blipFill>
        <p:spPr>
          <a:xfrm>
            <a:off x="833541" y="3550614"/>
            <a:ext cx="4192702" cy="3141964"/>
          </a:xfrm>
          <a:prstGeom prst="rect">
            <a:avLst/>
          </a:prstGeom>
        </p:spPr>
      </p:pic>
    </p:spTree>
    <p:extLst>
      <p:ext uri="{BB962C8B-B14F-4D97-AF65-F5344CB8AC3E}">
        <p14:creationId xmlns:p14="http://schemas.microsoft.com/office/powerpoint/2010/main" val="638643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18A61DD-7964-AD58-0585-3651FD8D7AF3}"/>
              </a:ext>
            </a:extLst>
          </p:cNvPr>
          <p:cNvSpPr txBox="1"/>
          <p:nvPr/>
        </p:nvSpPr>
        <p:spPr>
          <a:xfrm>
            <a:off x="538717" y="1120676"/>
            <a:ext cx="10944446" cy="4345870"/>
          </a:xfrm>
          <a:prstGeom prst="rect">
            <a:avLst/>
          </a:prstGeom>
          <a:noFill/>
        </p:spPr>
        <p:txBody>
          <a:bodyPr wrap="square">
            <a:spAutoFit/>
          </a:bodyPr>
          <a:lstStyle/>
          <a:p>
            <a:pPr marL="285750" indent="-285750">
              <a:lnSpc>
                <a:spcPct val="150000"/>
              </a:lnSpc>
              <a:spcAft>
                <a:spcPts val="600"/>
              </a:spcAft>
              <a:buFont typeface="Arial" panose="020B0604020202020204" pitchFamily="34" charset="0"/>
              <a:buChar char="•"/>
            </a:pPr>
            <a:r>
              <a:rPr lang="zh-CN" altLang="en-US" sz="2000" dirty="0">
                <a:latin typeface="Times New Roman" panose="02020603050405020304" pitchFamily="18" charset="0"/>
                <a:cs typeface="Times New Roman" panose="02020603050405020304" pitchFamily="18" charset="0"/>
              </a:rPr>
              <a:t>Each pixel in the LCD screen is data, in practical applications need to cache the data of each pixel, and then transmitted to the LCD screen, generally use SRAM or SDRAM nature of the memory, and these are specifically used to store the display data memory, is known as the video memory.</a:t>
            </a:r>
            <a:endParaRPr lang="en-US" altLang="zh-CN" sz="2000" dirty="0">
              <a:latin typeface="Times New Roman" panose="02020603050405020304" pitchFamily="18" charset="0"/>
              <a:cs typeface="Times New Roman" panose="02020603050405020304" pitchFamily="18" charset="0"/>
            </a:endParaRPr>
          </a:p>
          <a:p>
            <a:pPr marL="285750" indent="-285750">
              <a:lnSpc>
                <a:spcPct val="150000"/>
              </a:lnSpc>
              <a:spcAft>
                <a:spcPts val="600"/>
              </a:spcAft>
              <a:buFont typeface="Arial" panose="020B0604020202020204" pitchFamily="34" charset="0"/>
              <a:buChar char="•"/>
            </a:pPr>
            <a:r>
              <a:rPr lang="zh-CN" altLang="en-US" sz="2000" dirty="0">
                <a:latin typeface="Times New Roman" panose="02020603050405020304" pitchFamily="18" charset="0"/>
                <a:cs typeface="Times New Roman" panose="02020603050405020304" pitchFamily="18" charset="0"/>
              </a:rPr>
              <a:t>Memory should generally be able to store at least one frame of the LCD screen (one page, that is, 480 * 800 pixels) display data, such as resolution of 800x480 LCD screen, using the RGB565 format display, the size of a frame of the display data is: 2x800x480 = 768000 bytes.</a:t>
            </a:r>
            <a:endParaRPr lang="en-US" altLang="zh-CN" sz="2000" dirty="0">
              <a:latin typeface="Times New Roman" panose="02020603050405020304" pitchFamily="18" charset="0"/>
              <a:cs typeface="Times New Roman" panose="02020603050405020304" pitchFamily="18" charset="0"/>
            </a:endParaRPr>
          </a:p>
          <a:p>
            <a:pPr marL="285750" indent="-285750">
              <a:lnSpc>
                <a:spcPct val="150000"/>
              </a:lnSpc>
              <a:spcAft>
                <a:spcPts val="600"/>
              </a:spcAft>
              <a:buFont typeface="Arial" panose="020B0604020202020204" pitchFamily="34" charset="0"/>
              <a:buChar char="•"/>
            </a:pPr>
            <a:r>
              <a:rPr lang="zh-CN" altLang="en-US" sz="2000" dirty="0">
                <a:latin typeface="Times New Roman" panose="02020603050405020304" pitchFamily="18" charset="0"/>
                <a:cs typeface="Times New Roman" panose="02020603050405020304" pitchFamily="18" charset="0"/>
              </a:rPr>
              <a:t>Generally speaking, external LCD controllers come with their own memory, while chips with integrated LCD controllers such as the STM32F429 can use internal SRAM or external SDRAM for the memory space.</a:t>
            </a:r>
          </a:p>
        </p:txBody>
      </p:sp>
      <p:sp>
        <p:nvSpPr>
          <p:cNvPr id="5" name="文本框 4">
            <a:extLst>
              <a:ext uri="{FF2B5EF4-FFF2-40B4-BE49-F238E27FC236}">
                <a16:creationId xmlns:a16="http://schemas.microsoft.com/office/drawing/2014/main" id="{4FA6CDCD-0642-A048-218A-EBC4F9107362}"/>
              </a:ext>
            </a:extLst>
          </p:cNvPr>
          <p:cNvSpPr txBox="1"/>
          <p:nvPr/>
        </p:nvSpPr>
        <p:spPr>
          <a:xfrm>
            <a:off x="432391" y="304432"/>
            <a:ext cx="6096000" cy="523220"/>
          </a:xfrm>
          <a:prstGeom prst="rect">
            <a:avLst/>
          </a:prstGeom>
          <a:noFill/>
        </p:spPr>
        <p:txBody>
          <a:bodyPr wrap="square">
            <a:spAutoFit/>
          </a:bodyPr>
          <a:lstStyle/>
          <a:p>
            <a:r>
              <a:rPr lang="zh-CN" altLang="en-US" sz="2800" b="1" dirty="0">
                <a:latin typeface="Times New Roman" panose="02020603050405020304" pitchFamily="18" charset="0"/>
                <a:cs typeface="Times New Roman" panose="02020603050405020304" pitchFamily="18" charset="0"/>
              </a:rPr>
              <a:t>Memory:</a:t>
            </a:r>
          </a:p>
        </p:txBody>
      </p:sp>
      <p:pic>
        <p:nvPicPr>
          <p:cNvPr id="7" name="图片 6">
            <a:extLst>
              <a:ext uri="{FF2B5EF4-FFF2-40B4-BE49-F238E27FC236}">
                <a16:creationId xmlns:a16="http://schemas.microsoft.com/office/drawing/2014/main" id="{FDD8D595-A690-2A09-D878-83AC05B8B1FC}"/>
              </a:ext>
            </a:extLst>
          </p:cNvPr>
          <p:cNvPicPr>
            <a:picLocks noChangeAspect="1"/>
          </p:cNvPicPr>
          <p:nvPr/>
        </p:nvPicPr>
        <p:blipFill>
          <a:blip r:embed="rId2"/>
          <a:srcRect l="4445" t="8549" r="6662" b="49062"/>
          <a:stretch/>
        </p:blipFill>
        <p:spPr>
          <a:xfrm>
            <a:off x="3480391" y="79338"/>
            <a:ext cx="5889356" cy="1041338"/>
          </a:xfrm>
          <a:prstGeom prst="rect">
            <a:avLst/>
          </a:prstGeom>
        </p:spPr>
      </p:pic>
    </p:spTree>
    <p:extLst>
      <p:ext uri="{BB962C8B-B14F-4D97-AF65-F5344CB8AC3E}">
        <p14:creationId xmlns:p14="http://schemas.microsoft.com/office/powerpoint/2010/main" val="3477986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33B98B5-94CA-B243-B31D-4FE530626FA9}"/>
              </a:ext>
            </a:extLst>
          </p:cNvPr>
          <p:cNvSpPr txBox="1"/>
          <p:nvPr/>
        </p:nvSpPr>
        <p:spPr>
          <a:xfrm>
            <a:off x="432391" y="304432"/>
            <a:ext cx="6096000" cy="523220"/>
          </a:xfrm>
          <a:prstGeom prst="rect">
            <a:avLst/>
          </a:prstGeom>
          <a:noFill/>
        </p:spPr>
        <p:txBody>
          <a:bodyPr wrap="square">
            <a:spAutoFit/>
          </a:bodyPr>
          <a:lstStyle/>
          <a:p>
            <a:r>
              <a:rPr lang="en-US" altLang="zh-CN" sz="2800" b="1" dirty="0">
                <a:latin typeface="Times New Roman" panose="02020603050405020304" pitchFamily="18" charset="0"/>
                <a:cs typeface="Times New Roman" panose="02020603050405020304" pitchFamily="18" charset="0"/>
              </a:rPr>
              <a:t>Command of SSD1963</a:t>
            </a:r>
            <a:endParaRPr lang="zh-CN" altLang="en-US" sz="2800" b="1"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8315DDD6-F53D-CA5C-F541-1D13B170F9AC}"/>
              </a:ext>
            </a:extLst>
          </p:cNvPr>
          <p:cNvSpPr txBox="1"/>
          <p:nvPr/>
        </p:nvSpPr>
        <p:spPr>
          <a:xfrm>
            <a:off x="673396" y="893849"/>
            <a:ext cx="10944446" cy="1037272"/>
          </a:xfrm>
          <a:prstGeom prst="rect">
            <a:avLst/>
          </a:prstGeom>
          <a:noFill/>
        </p:spPr>
        <p:txBody>
          <a:bodyPr wrap="square">
            <a:spAutoFit/>
          </a:bodyPr>
          <a:lstStyle/>
          <a:p>
            <a:pPr marL="285750" indent="-285750">
              <a:lnSpc>
                <a:spcPct val="150000"/>
              </a:lnSpc>
              <a:spcAft>
                <a:spcPts val="600"/>
              </a:spcAf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Only accept 8-bit command</a:t>
            </a:r>
          </a:p>
          <a:p>
            <a:pPr marL="285750" indent="-285750">
              <a:lnSpc>
                <a:spcPct val="150000"/>
              </a:lnSpc>
              <a:spcAft>
                <a:spcPts val="600"/>
              </a:spcAf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0xD3, 0x36, 0x2A, 0x2B, 0x2C, 0x2E</a:t>
            </a:r>
            <a:endParaRPr lang="zh-CN" altLang="en-US" sz="2000"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0E9E05E0-4BDF-B1FC-5C4B-C0B1E9465393}"/>
              </a:ext>
            </a:extLst>
          </p:cNvPr>
          <p:cNvPicPr>
            <a:picLocks noChangeAspect="1"/>
          </p:cNvPicPr>
          <p:nvPr/>
        </p:nvPicPr>
        <p:blipFill>
          <a:blip r:embed="rId2"/>
          <a:stretch>
            <a:fillRect/>
          </a:stretch>
        </p:blipFill>
        <p:spPr>
          <a:xfrm>
            <a:off x="1069382" y="2231607"/>
            <a:ext cx="9162081" cy="3523354"/>
          </a:xfrm>
          <a:prstGeom prst="rect">
            <a:avLst/>
          </a:prstGeom>
        </p:spPr>
      </p:pic>
    </p:spTree>
    <p:extLst>
      <p:ext uri="{BB962C8B-B14F-4D97-AF65-F5344CB8AC3E}">
        <p14:creationId xmlns:p14="http://schemas.microsoft.com/office/powerpoint/2010/main" val="2057887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62F9864-3712-D70E-1DF7-680C10F0690B}"/>
              </a:ext>
            </a:extLst>
          </p:cNvPr>
          <p:cNvSpPr txBox="1"/>
          <p:nvPr/>
        </p:nvSpPr>
        <p:spPr>
          <a:xfrm>
            <a:off x="673396" y="893849"/>
            <a:ext cx="10944446" cy="3191708"/>
          </a:xfrm>
          <a:prstGeom prst="rect">
            <a:avLst/>
          </a:prstGeom>
          <a:noFill/>
        </p:spPr>
        <p:txBody>
          <a:bodyPr wrap="square">
            <a:spAutoFit/>
          </a:bodyPr>
          <a:lstStyle/>
          <a:p>
            <a:pPr marL="285750" indent="-285750">
              <a:lnSpc>
                <a:spcPct val="150000"/>
              </a:lnSpc>
              <a:spcAft>
                <a:spcPts val="600"/>
              </a:spcAf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0xD3: read LCD ID</a:t>
            </a:r>
          </a:p>
          <a:p>
            <a:pPr marL="285750" indent="-285750">
              <a:lnSpc>
                <a:spcPct val="150000"/>
              </a:lnSpc>
              <a:spcAft>
                <a:spcPts val="600"/>
              </a:spcAf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0x36: scanning direction</a:t>
            </a:r>
          </a:p>
          <a:p>
            <a:pPr marL="285750" indent="-285750">
              <a:lnSpc>
                <a:spcPct val="150000"/>
              </a:lnSpc>
              <a:spcAft>
                <a:spcPts val="600"/>
              </a:spcAf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0x2A, 0x2B: set the area of accessible frame memory in x and y direction </a:t>
            </a:r>
          </a:p>
          <a:p>
            <a:pPr marL="285750" indent="-285750">
              <a:lnSpc>
                <a:spcPct val="150000"/>
              </a:lnSpc>
              <a:spcAft>
                <a:spcPts val="600"/>
              </a:spcAf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0x2C: write GRAM</a:t>
            </a:r>
          </a:p>
          <a:p>
            <a:pPr marL="285750" indent="-285750">
              <a:lnSpc>
                <a:spcPct val="150000"/>
              </a:lnSpc>
              <a:spcAft>
                <a:spcPts val="600"/>
              </a:spcAf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0x2E: read GRAM</a:t>
            </a:r>
          </a:p>
          <a:p>
            <a:pPr marL="285750" indent="-285750">
              <a:lnSpc>
                <a:spcPct val="150000"/>
              </a:lnSpc>
              <a:spcAft>
                <a:spcPts val="600"/>
              </a:spcAf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0x29, 0x28: display on/off</a:t>
            </a:r>
            <a:endParaRPr lang="zh-CN" altLang="en-US" sz="2000"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332C53B0-13A4-7482-F93B-83930C76EB57}"/>
              </a:ext>
            </a:extLst>
          </p:cNvPr>
          <p:cNvPicPr>
            <a:picLocks noChangeAspect="1"/>
          </p:cNvPicPr>
          <p:nvPr/>
        </p:nvPicPr>
        <p:blipFill>
          <a:blip r:embed="rId2"/>
          <a:stretch>
            <a:fillRect/>
          </a:stretch>
        </p:blipFill>
        <p:spPr>
          <a:xfrm>
            <a:off x="5789528" y="2525756"/>
            <a:ext cx="5729076" cy="3944786"/>
          </a:xfrm>
          <a:prstGeom prst="rect">
            <a:avLst/>
          </a:prstGeom>
        </p:spPr>
      </p:pic>
      <p:sp>
        <p:nvSpPr>
          <p:cNvPr id="5" name="文本框 4">
            <a:extLst>
              <a:ext uri="{FF2B5EF4-FFF2-40B4-BE49-F238E27FC236}">
                <a16:creationId xmlns:a16="http://schemas.microsoft.com/office/drawing/2014/main" id="{EBE9BE5B-5ABE-889A-D58D-763D4B7A8C60}"/>
              </a:ext>
            </a:extLst>
          </p:cNvPr>
          <p:cNvSpPr txBox="1"/>
          <p:nvPr/>
        </p:nvSpPr>
        <p:spPr>
          <a:xfrm>
            <a:off x="432391" y="304432"/>
            <a:ext cx="6096000" cy="523220"/>
          </a:xfrm>
          <a:prstGeom prst="rect">
            <a:avLst/>
          </a:prstGeom>
          <a:noFill/>
        </p:spPr>
        <p:txBody>
          <a:bodyPr wrap="square">
            <a:spAutoFit/>
          </a:bodyPr>
          <a:lstStyle/>
          <a:p>
            <a:r>
              <a:rPr lang="en-US" altLang="zh-CN" sz="2800" b="1" dirty="0">
                <a:latin typeface="Times New Roman" panose="02020603050405020304" pitchFamily="18" charset="0"/>
                <a:cs typeface="Times New Roman" panose="02020603050405020304" pitchFamily="18" charset="0"/>
              </a:rPr>
              <a:t>Command of SSD1963</a:t>
            </a:r>
            <a:endParaRPr lang="zh-C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8811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E561069-031C-6134-CC74-1C16419EC4FB}"/>
              </a:ext>
            </a:extLst>
          </p:cNvPr>
          <p:cNvSpPr txBox="1"/>
          <p:nvPr/>
        </p:nvSpPr>
        <p:spPr>
          <a:xfrm>
            <a:off x="715277" y="366455"/>
            <a:ext cx="7188257" cy="523220"/>
          </a:xfrm>
          <a:prstGeom prst="rect">
            <a:avLst/>
          </a:prstGeom>
          <a:noFill/>
        </p:spPr>
        <p:txBody>
          <a:bodyPr wrap="square">
            <a:spAutoFit/>
          </a:bodyPr>
          <a:lstStyle>
            <a:defPPr>
              <a:defRPr lang="zh-CN"/>
            </a:defPPr>
            <a:lvl1pPr>
              <a:defRPr sz="2800" b="1">
                <a:latin typeface="Times New Roman" panose="02020603050405020304" pitchFamily="18" charset="0"/>
                <a:cs typeface="Times New Roman" panose="02020603050405020304" pitchFamily="18" charset="0"/>
              </a:defRPr>
            </a:lvl1pPr>
          </a:lstStyle>
          <a:p>
            <a:r>
              <a:rPr lang="en-US" altLang="zh-CN" dirty="0"/>
              <a:t>Flexible static memory controller (FSMC)</a:t>
            </a:r>
            <a:endParaRPr lang="zh-CN" altLang="en-US" dirty="0"/>
          </a:p>
        </p:txBody>
      </p:sp>
      <p:pic>
        <p:nvPicPr>
          <p:cNvPr id="2050" name="Picture 2" descr="图">
            <a:extLst>
              <a:ext uri="{FF2B5EF4-FFF2-40B4-BE49-F238E27FC236}">
                <a16:creationId xmlns:a16="http://schemas.microsoft.com/office/drawing/2014/main" id="{BFDAC33C-00E2-CC35-EA0D-32410E7865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4887" y="1962386"/>
            <a:ext cx="10182225" cy="2800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4665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660E0C7-8502-B744-C9EE-945AA704DC6D}"/>
              </a:ext>
            </a:extLst>
          </p:cNvPr>
          <p:cNvPicPr>
            <a:picLocks noChangeAspect="1"/>
          </p:cNvPicPr>
          <p:nvPr/>
        </p:nvPicPr>
        <p:blipFill>
          <a:blip r:embed="rId2"/>
          <a:stretch>
            <a:fillRect/>
          </a:stretch>
        </p:blipFill>
        <p:spPr>
          <a:xfrm>
            <a:off x="597434" y="616135"/>
            <a:ext cx="8554644" cy="2467319"/>
          </a:xfrm>
          <a:prstGeom prst="rect">
            <a:avLst/>
          </a:prstGeom>
        </p:spPr>
      </p:pic>
      <p:cxnSp>
        <p:nvCxnSpPr>
          <p:cNvPr id="5" name="直接箭头连接符 4">
            <a:extLst>
              <a:ext uri="{FF2B5EF4-FFF2-40B4-BE49-F238E27FC236}">
                <a16:creationId xmlns:a16="http://schemas.microsoft.com/office/drawing/2014/main" id="{A97B5A4A-447B-84EC-DD70-A08B7E1DFF54}"/>
              </a:ext>
            </a:extLst>
          </p:cNvPr>
          <p:cNvCxnSpPr/>
          <p:nvPr/>
        </p:nvCxnSpPr>
        <p:spPr>
          <a:xfrm>
            <a:off x="2679402" y="1524000"/>
            <a:ext cx="786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2812D992-23F5-5AB7-80C9-DA1DB98DD2FF}"/>
              </a:ext>
            </a:extLst>
          </p:cNvPr>
          <p:cNvSpPr txBox="1"/>
          <p:nvPr/>
        </p:nvSpPr>
        <p:spPr>
          <a:xfrm>
            <a:off x="3593804" y="1339334"/>
            <a:ext cx="2885726"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A10=0, Register (Command)</a:t>
            </a:r>
            <a:endParaRPr lang="zh-CN" altLang="en-US" dirty="0">
              <a:latin typeface="Times New Roman" panose="02020603050405020304" pitchFamily="18" charset="0"/>
              <a:cs typeface="Times New Roman" panose="02020603050405020304" pitchFamily="18" charset="0"/>
            </a:endParaRPr>
          </a:p>
        </p:txBody>
      </p:sp>
      <p:cxnSp>
        <p:nvCxnSpPr>
          <p:cNvPr id="7" name="直接箭头连接符 6">
            <a:extLst>
              <a:ext uri="{FF2B5EF4-FFF2-40B4-BE49-F238E27FC236}">
                <a16:creationId xmlns:a16="http://schemas.microsoft.com/office/drawing/2014/main" id="{33708F69-A332-C6AB-FE73-9CE33BB9D21C}"/>
              </a:ext>
            </a:extLst>
          </p:cNvPr>
          <p:cNvCxnSpPr/>
          <p:nvPr/>
        </p:nvCxnSpPr>
        <p:spPr>
          <a:xfrm>
            <a:off x="2690037" y="1726387"/>
            <a:ext cx="786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文本框 7">
            <a:extLst>
              <a:ext uri="{FF2B5EF4-FFF2-40B4-BE49-F238E27FC236}">
                <a16:creationId xmlns:a16="http://schemas.microsoft.com/office/drawing/2014/main" id="{1902E3A1-B5EE-4F49-8968-0F54CBD0EDFA}"/>
              </a:ext>
            </a:extLst>
          </p:cNvPr>
          <p:cNvSpPr txBox="1"/>
          <p:nvPr/>
        </p:nvSpPr>
        <p:spPr>
          <a:xfrm>
            <a:off x="3593804" y="1541721"/>
            <a:ext cx="1378904"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A10=1, Data</a:t>
            </a:r>
            <a:endParaRPr lang="zh-CN" altLang="en-US" dirty="0">
              <a:latin typeface="Times New Roman" panose="02020603050405020304" pitchFamily="18" charset="0"/>
              <a:cs typeface="Times New Roman" panose="02020603050405020304" pitchFamily="18" charset="0"/>
            </a:endParaRPr>
          </a:p>
        </p:txBody>
      </p:sp>
      <p:pic>
        <p:nvPicPr>
          <p:cNvPr id="10" name="图片 9">
            <a:extLst>
              <a:ext uri="{FF2B5EF4-FFF2-40B4-BE49-F238E27FC236}">
                <a16:creationId xmlns:a16="http://schemas.microsoft.com/office/drawing/2014/main" id="{D8182372-BA76-207B-6CFE-C5D8F2129064}"/>
              </a:ext>
            </a:extLst>
          </p:cNvPr>
          <p:cNvPicPr>
            <a:picLocks noChangeAspect="1"/>
          </p:cNvPicPr>
          <p:nvPr/>
        </p:nvPicPr>
        <p:blipFill>
          <a:blip r:embed="rId3"/>
          <a:srcRect r="56291"/>
          <a:stretch/>
        </p:blipFill>
        <p:spPr>
          <a:xfrm>
            <a:off x="383530" y="3894138"/>
            <a:ext cx="5328941" cy="2194378"/>
          </a:xfrm>
          <a:prstGeom prst="rect">
            <a:avLst/>
          </a:prstGeom>
        </p:spPr>
      </p:pic>
      <p:sp>
        <p:nvSpPr>
          <p:cNvPr id="11" name="文本框 10">
            <a:extLst>
              <a:ext uri="{FF2B5EF4-FFF2-40B4-BE49-F238E27FC236}">
                <a16:creationId xmlns:a16="http://schemas.microsoft.com/office/drawing/2014/main" id="{3DA66B16-3D5F-259B-79B9-306A1139B2CA}"/>
              </a:ext>
            </a:extLst>
          </p:cNvPr>
          <p:cNvSpPr txBox="1"/>
          <p:nvPr/>
        </p:nvSpPr>
        <p:spPr>
          <a:xfrm>
            <a:off x="322521" y="282245"/>
            <a:ext cx="1671098" cy="400110"/>
          </a:xfrm>
          <a:prstGeom prst="rect">
            <a:avLst/>
          </a:prstGeom>
          <a:noFill/>
        </p:spPr>
        <p:txBody>
          <a:bodyPr wrap="none" rtlCol="0">
            <a:spAutoFit/>
          </a:bodyPr>
          <a:lstStyle/>
          <a:p>
            <a:r>
              <a:rPr lang="en-US" altLang="zh-CN" sz="2000" b="1" dirty="0">
                <a:latin typeface="Times New Roman" panose="02020603050405020304" pitchFamily="18" charset="0"/>
                <a:cs typeface="Times New Roman" panose="02020603050405020304" pitchFamily="18" charset="0"/>
              </a:rPr>
              <a:t>LCD Address</a:t>
            </a:r>
            <a:endParaRPr lang="zh-CN" altLang="en-US" sz="2000" b="1"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F4CF8D39-798B-5771-216E-47FA10249509}"/>
              </a:ext>
            </a:extLst>
          </p:cNvPr>
          <p:cNvSpPr txBox="1"/>
          <p:nvPr/>
        </p:nvSpPr>
        <p:spPr>
          <a:xfrm>
            <a:off x="113414" y="3494028"/>
            <a:ext cx="2058577" cy="400110"/>
          </a:xfrm>
          <a:prstGeom prst="rect">
            <a:avLst/>
          </a:prstGeom>
          <a:noFill/>
        </p:spPr>
        <p:txBody>
          <a:bodyPr wrap="none" rtlCol="0">
            <a:spAutoFit/>
          </a:bodyPr>
          <a:lstStyle/>
          <a:p>
            <a:r>
              <a:rPr lang="en-US" altLang="zh-CN" sz="2000" b="1" dirty="0">
                <a:latin typeface="Times New Roman" panose="02020603050405020304" pitchFamily="18" charset="0"/>
                <a:cs typeface="Times New Roman" panose="02020603050405020304" pitchFamily="18" charset="0"/>
              </a:rPr>
              <a:t>LCD Parameters</a:t>
            </a:r>
            <a:endParaRPr lang="zh-CN" altLang="en-US" sz="2000" b="1"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63A48EF2-B383-0A9E-6DC0-B05D0DEE40F8}"/>
              </a:ext>
            </a:extLst>
          </p:cNvPr>
          <p:cNvPicPr>
            <a:picLocks noChangeAspect="1"/>
          </p:cNvPicPr>
          <p:nvPr/>
        </p:nvPicPr>
        <p:blipFill>
          <a:blip r:embed="rId3"/>
          <a:srcRect l="61522"/>
          <a:stretch/>
        </p:blipFill>
        <p:spPr>
          <a:xfrm>
            <a:off x="5982587" y="3894138"/>
            <a:ext cx="4691277" cy="2194378"/>
          </a:xfrm>
          <a:prstGeom prst="rect">
            <a:avLst/>
          </a:prstGeom>
        </p:spPr>
      </p:pic>
    </p:spTree>
    <p:extLst>
      <p:ext uri="{BB962C8B-B14F-4D97-AF65-F5344CB8AC3E}">
        <p14:creationId xmlns:p14="http://schemas.microsoft.com/office/powerpoint/2010/main" val="4059796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2E104FA-2FD5-A6E6-A9F5-139AEDCF3A7F}"/>
              </a:ext>
            </a:extLst>
          </p:cNvPr>
          <p:cNvSpPr txBox="1"/>
          <p:nvPr/>
        </p:nvSpPr>
        <p:spPr>
          <a:xfrm>
            <a:off x="963372" y="1045283"/>
            <a:ext cx="9569949" cy="295106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void LCD_WR_REG(u16 regval);             </a:t>
            </a:r>
            <a:r>
              <a:rPr lang="en-US" altLang="zh-CN" dirty="0">
                <a:latin typeface="Times New Roman" panose="02020603050405020304" pitchFamily="18" charset="0"/>
                <a:cs typeface="Times New Roman" panose="02020603050405020304" pitchFamily="18" charset="0"/>
              </a:rPr>
              <a:t># write register, i.e. command</a:t>
            </a:r>
            <a:endParaRPr lang="zh-CN" alt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void LCD_WR_DATA(u16 data);              </a:t>
            </a:r>
            <a:r>
              <a:rPr lang="en-US" altLang="zh-CN" dirty="0">
                <a:latin typeface="Times New Roman" panose="02020603050405020304" pitchFamily="18" charset="0"/>
                <a:cs typeface="Times New Roman" panose="02020603050405020304" pitchFamily="18" charset="0"/>
              </a:rPr>
              <a:t># write data</a:t>
            </a:r>
            <a:endParaRPr lang="zh-CN" alt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u16 LCD_RD_DATA(void);                       </a:t>
            </a:r>
            <a:r>
              <a:rPr lang="en-US" altLang="zh-CN" dirty="0">
                <a:latin typeface="Times New Roman" panose="02020603050405020304" pitchFamily="18" charset="0"/>
                <a:cs typeface="Times New Roman" panose="02020603050405020304" pitchFamily="18" charset="0"/>
              </a:rPr>
              <a:t># read data</a:t>
            </a:r>
            <a:r>
              <a:rPr lang="zh-CN" altLang="en-US" dirty="0">
                <a:latin typeface="Times New Roman" panose="02020603050405020304" pitchFamily="18" charset="0"/>
                <a:cs typeface="Times New Roman" panose="02020603050405020304" pitchFamily="18" charset="0"/>
              </a:rPr>
              <a:t> </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void LCD_WriteReg(u16 LCD_Reg, u16 LCD_RegValue);    </a:t>
            </a:r>
            <a:r>
              <a:rPr lang="en-US" altLang="zh-CN" dirty="0">
                <a:latin typeface="Times New Roman" panose="02020603050405020304" pitchFamily="18" charset="0"/>
                <a:cs typeface="Times New Roman" panose="02020603050405020304" pitchFamily="18" charset="0"/>
              </a:rPr>
              <a:t># write register and the value</a:t>
            </a:r>
            <a:endParaRPr lang="zh-CN" alt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u16 LCD_ReadReg(u16 LCD_Reg);          </a:t>
            </a:r>
            <a:r>
              <a:rPr lang="en-US" altLang="zh-CN" dirty="0">
                <a:latin typeface="Times New Roman" panose="02020603050405020304" pitchFamily="18" charset="0"/>
                <a:cs typeface="Times New Roman" panose="02020603050405020304" pitchFamily="18" charset="0"/>
              </a:rPr>
              <a:t># read the value of register</a:t>
            </a:r>
            <a:endParaRPr lang="zh-CN" alt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void LCD_WriteRAM_Prepare(void);        </a:t>
            </a:r>
            <a:r>
              <a:rPr lang="en-US" altLang="zh-CN" dirty="0">
                <a:latin typeface="Times New Roman" panose="02020603050405020304" pitchFamily="18" charset="0"/>
                <a:cs typeface="Times New Roman" panose="02020603050405020304" pitchFamily="18" charset="0"/>
              </a:rPr>
              <a:t># configure to prepare to write GRAM (graphic RAM)</a:t>
            </a:r>
            <a:endParaRPr lang="zh-CN" alt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void LCD_WriteRAM(u16 RGB_Code);    </a:t>
            </a:r>
            <a:r>
              <a:rPr lang="en-US" altLang="zh-CN" dirty="0">
                <a:latin typeface="Times New Roman" panose="02020603050405020304" pitchFamily="18" charset="0"/>
                <a:cs typeface="Times New Roman" panose="02020603050405020304" pitchFamily="18" charset="0"/>
              </a:rPr>
              <a:t># write GRAM</a:t>
            </a:r>
            <a:endParaRPr lang="zh-CN" altLang="en-US" dirty="0">
              <a:latin typeface="Times New Roman" panose="02020603050405020304" pitchFamily="18" charset="0"/>
              <a:cs typeface="Times New Roman" panose="02020603050405020304" pitchFamily="18" charset="0"/>
            </a:endParaRPr>
          </a:p>
        </p:txBody>
      </p:sp>
      <p:sp>
        <p:nvSpPr>
          <p:cNvPr id="68" name="文本框 67">
            <a:extLst>
              <a:ext uri="{FF2B5EF4-FFF2-40B4-BE49-F238E27FC236}">
                <a16:creationId xmlns:a16="http://schemas.microsoft.com/office/drawing/2014/main" id="{0A99AA7D-651A-F825-14D2-B98AA713DACE}"/>
              </a:ext>
            </a:extLst>
          </p:cNvPr>
          <p:cNvSpPr txBox="1"/>
          <p:nvPr/>
        </p:nvSpPr>
        <p:spPr>
          <a:xfrm>
            <a:off x="715277" y="366455"/>
            <a:ext cx="7188257" cy="523220"/>
          </a:xfrm>
          <a:prstGeom prst="rect">
            <a:avLst/>
          </a:prstGeom>
          <a:noFill/>
        </p:spPr>
        <p:txBody>
          <a:bodyPr wrap="square">
            <a:spAutoFit/>
          </a:bodyPr>
          <a:lstStyle>
            <a:defPPr>
              <a:defRPr lang="zh-CN"/>
            </a:defPPr>
            <a:lvl1pPr>
              <a:defRPr sz="2800" b="1">
                <a:latin typeface="Times New Roman" panose="02020603050405020304" pitchFamily="18" charset="0"/>
                <a:cs typeface="Times New Roman" panose="02020603050405020304" pitchFamily="18" charset="0"/>
              </a:defRPr>
            </a:lvl1pPr>
          </a:lstStyle>
          <a:p>
            <a:r>
              <a:rPr lang="en-US" altLang="zh-CN" dirty="0"/>
              <a:t>Basic functions</a:t>
            </a:r>
            <a:endParaRPr lang="zh-CN" altLang="en-US" dirty="0"/>
          </a:p>
        </p:txBody>
      </p:sp>
    </p:spTree>
    <p:extLst>
      <p:ext uri="{BB962C8B-B14F-4D97-AF65-F5344CB8AC3E}">
        <p14:creationId xmlns:p14="http://schemas.microsoft.com/office/powerpoint/2010/main" val="2567850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A5FAAAE-7489-254F-F6FA-7802EB3AB5CD}"/>
              </a:ext>
            </a:extLst>
          </p:cNvPr>
          <p:cNvSpPr/>
          <p:nvPr/>
        </p:nvSpPr>
        <p:spPr>
          <a:xfrm>
            <a:off x="876960" y="767230"/>
            <a:ext cx="4742004" cy="4411785"/>
          </a:xfrm>
          <a:prstGeom prst="rect">
            <a:avLst/>
          </a:prstGeom>
        </p:spPr>
        <p:txBody>
          <a:bodyPr wrap="none">
            <a:spAutoFit/>
          </a:bodyPr>
          <a:lstStyle/>
          <a:p>
            <a:pPr marL="514350" indent="-514350">
              <a:lnSpc>
                <a:spcPct val="200000"/>
              </a:lnSpc>
              <a:buAutoNum type="arabicPeriod"/>
            </a:pPr>
            <a:r>
              <a:rPr lang="en-US" altLang="zh-CN" sz="2400" dirty="0">
                <a:latin typeface="Times New Roman" panose="02020603050405020304" pitchFamily="18" charset="0"/>
                <a:cs typeface="Times New Roman" panose="02020603050405020304" pitchFamily="18" charset="0"/>
              </a:rPr>
              <a:t>Enable Clock</a:t>
            </a:r>
          </a:p>
          <a:p>
            <a:pPr marL="514350" indent="-514350">
              <a:lnSpc>
                <a:spcPct val="200000"/>
              </a:lnSpc>
              <a:buAutoNum type="arabicPeriod"/>
            </a:pPr>
            <a:r>
              <a:rPr lang="en-US" altLang="zh-CN" sz="2400" dirty="0">
                <a:latin typeface="Times New Roman" panose="02020603050405020304" pitchFamily="18" charset="0"/>
                <a:cs typeface="Times New Roman" panose="02020603050405020304" pitchFamily="18" charset="0"/>
              </a:rPr>
              <a:t>Initialize GPIO</a:t>
            </a:r>
          </a:p>
          <a:p>
            <a:pPr marL="514350" indent="-514350">
              <a:lnSpc>
                <a:spcPct val="200000"/>
              </a:lnSpc>
              <a:buAutoNum type="arabicPeriod"/>
            </a:pPr>
            <a:r>
              <a:rPr lang="en-US" altLang="zh-CN" sz="2400" dirty="0">
                <a:latin typeface="Times New Roman" panose="02020603050405020304" pitchFamily="18" charset="0"/>
                <a:cs typeface="Times New Roman" panose="02020603050405020304" pitchFamily="18" charset="0"/>
              </a:rPr>
              <a:t>Initialize FSMC</a:t>
            </a:r>
          </a:p>
          <a:p>
            <a:pPr marL="514350" indent="-514350">
              <a:lnSpc>
                <a:spcPct val="200000"/>
              </a:lnSpc>
              <a:buAutoNum type="arabicPeriod"/>
            </a:pPr>
            <a:r>
              <a:rPr lang="en-US" altLang="zh-CN" sz="2400" dirty="0">
                <a:latin typeface="Times New Roman" panose="02020603050405020304" pitchFamily="18" charset="0"/>
                <a:cs typeface="Times New Roman" panose="02020603050405020304" pitchFamily="18" charset="0"/>
              </a:rPr>
              <a:t>Read LCD ID</a:t>
            </a:r>
          </a:p>
          <a:p>
            <a:pPr marL="514350" indent="-514350">
              <a:lnSpc>
                <a:spcPct val="200000"/>
              </a:lnSpc>
              <a:buAutoNum type="arabicPeriod"/>
            </a:pPr>
            <a:r>
              <a:rPr lang="en-US" altLang="zh-CN" sz="2400" dirty="0">
                <a:latin typeface="Times New Roman" panose="02020603050405020304" pitchFamily="18" charset="0"/>
                <a:cs typeface="Times New Roman" panose="02020603050405020304" pitchFamily="18" charset="0"/>
              </a:rPr>
              <a:t>Initialize LCD based on its ID</a:t>
            </a:r>
          </a:p>
          <a:p>
            <a:pPr marL="514350" indent="-514350">
              <a:lnSpc>
                <a:spcPct val="200000"/>
              </a:lnSpc>
              <a:buAutoNum type="arabicPeriod"/>
            </a:pPr>
            <a:r>
              <a:rPr lang="en-US" altLang="zh-CN" sz="2400" dirty="0">
                <a:latin typeface="Times New Roman" panose="02020603050405020304" pitchFamily="18" charset="0"/>
                <a:cs typeface="Times New Roman" panose="02020603050405020304" pitchFamily="18" charset="0"/>
              </a:rPr>
              <a:t>Set parameters    //</a:t>
            </a:r>
            <a:r>
              <a:rPr lang="en-US" altLang="zh-CN" sz="2400" dirty="0" err="1">
                <a:latin typeface="Times New Roman" panose="02020603050405020304" pitchFamily="18" charset="0"/>
                <a:cs typeface="Times New Roman" panose="02020603050405020304" pitchFamily="18" charset="0"/>
              </a:rPr>
              <a:t>display_dir</a:t>
            </a:r>
            <a:r>
              <a:rPr lang="en-US" altLang="zh-CN" sz="2400" dirty="0">
                <a:latin typeface="Times New Roman" panose="02020603050405020304" pitchFamily="18" charset="0"/>
                <a:cs typeface="Times New Roman" panose="02020603050405020304" pitchFamily="18" charset="0"/>
              </a:rPr>
              <a:t>(0)</a:t>
            </a:r>
          </a:p>
        </p:txBody>
      </p:sp>
      <p:sp>
        <p:nvSpPr>
          <p:cNvPr id="4" name="矩形 3">
            <a:extLst>
              <a:ext uri="{FF2B5EF4-FFF2-40B4-BE49-F238E27FC236}">
                <a16:creationId xmlns:a16="http://schemas.microsoft.com/office/drawing/2014/main" id="{932FD154-6621-157E-B7C1-69573067945C}"/>
              </a:ext>
            </a:extLst>
          </p:cNvPr>
          <p:cNvSpPr/>
          <p:nvPr/>
        </p:nvSpPr>
        <p:spPr>
          <a:xfrm>
            <a:off x="5476219" y="767230"/>
            <a:ext cx="5420074" cy="1457130"/>
          </a:xfrm>
          <a:prstGeom prst="rect">
            <a:avLst/>
          </a:prstGeom>
        </p:spPr>
        <p:txBody>
          <a:bodyPr wrap="none">
            <a:spAutoFit/>
          </a:bodyPr>
          <a:lstStyle/>
          <a:p>
            <a:pPr marL="514350" indent="-514350">
              <a:lnSpc>
                <a:spcPct val="200000"/>
              </a:lnSpc>
              <a:buFont typeface="+mj-lt"/>
              <a:buAutoNum type="arabicPeriod" startAt="7"/>
            </a:pPr>
            <a:r>
              <a:rPr lang="en-US" altLang="zh-CN" sz="2400" dirty="0">
                <a:latin typeface="Times New Roman" panose="02020603050405020304" pitchFamily="18" charset="0"/>
                <a:cs typeface="Times New Roman" panose="02020603050405020304" pitchFamily="18" charset="0"/>
              </a:rPr>
              <a:t>LCD_LED=1    //light the background</a:t>
            </a:r>
          </a:p>
          <a:p>
            <a:pPr marL="514350" indent="-514350">
              <a:lnSpc>
                <a:spcPct val="200000"/>
              </a:lnSpc>
              <a:buFont typeface="+mj-lt"/>
              <a:buAutoNum type="arabicPeriod" startAt="7"/>
            </a:pPr>
            <a:r>
              <a:rPr lang="en-US" altLang="zh-CN" sz="2400" dirty="0">
                <a:latin typeface="Times New Roman" panose="02020603050405020304" pitchFamily="18" charset="0"/>
                <a:cs typeface="Times New Roman" panose="02020603050405020304" pitchFamily="18" charset="0"/>
              </a:rPr>
              <a:t>Clear LCD</a:t>
            </a:r>
          </a:p>
        </p:txBody>
      </p:sp>
      <p:sp>
        <p:nvSpPr>
          <p:cNvPr id="7" name="文本框 6">
            <a:extLst>
              <a:ext uri="{FF2B5EF4-FFF2-40B4-BE49-F238E27FC236}">
                <a16:creationId xmlns:a16="http://schemas.microsoft.com/office/drawing/2014/main" id="{4A8CC7F2-1512-4F21-F764-93165AF0DF94}"/>
              </a:ext>
            </a:extLst>
          </p:cNvPr>
          <p:cNvSpPr txBox="1"/>
          <p:nvPr/>
        </p:nvSpPr>
        <p:spPr>
          <a:xfrm>
            <a:off x="715277" y="366455"/>
            <a:ext cx="7188257" cy="523220"/>
          </a:xfrm>
          <a:prstGeom prst="rect">
            <a:avLst/>
          </a:prstGeom>
          <a:noFill/>
        </p:spPr>
        <p:txBody>
          <a:bodyPr wrap="square">
            <a:spAutoFit/>
          </a:bodyPr>
          <a:lstStyle>
            <a:defPPr>
              <a:defRPr lang="zh-CN"/>
            </a:defPPr>
            <a:lvl1pPr>
              <a:defRPr sz="2800" b="1">
                <a:latin typeface="Times New Roman" panose="02020603050405020304" pitchFamily="18" charset="0"/>
                <a:cs typeface="Times New Roman" panose="02020603050405020304" pitchFamily="18" charset="0"/>
              </a:defRPr>
            </a:lvl1pPr>
          </a:lstStyle>
          <a:p>
            <a:r>
              <a:rPr lang="en-US" altLang="zh-CN" dirty="0"/>
              <a:t>Initialization</a:t>
            </a:r>
            <a:endParaRPr lang="zh-CN" altLang="en-US" dirty="0"/>
          </a:p>
        </p:txBody>
      </p:sp>
    </p:spTree>
    <p:extLst>
      <p:ext uri="{BB962C8B-B14F-4D97-AF65-F5344CB8AC3E}">
        <p14:creationId xmlns:p14="http://schemas.microsoft.com/office/powerpoint/2010/main" val="541213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2924618-EB7A-11B8-0AF7-430453C9B12A}"/>
              </a:ext>
            </a:extLst>
          </p:cNvPr>
          <p:cNvPicPr>
            <a:picLocks noChangeAspect="1"/>
          </p:cNvPicPr>
          <p:nvPr/>
        </p:nvPicPr>
        <p:blipFill>
          <a:blip r:embed="rId2"/>
          <a:stretch>
            <a:fillRect/>
          </a:stretch>
        </p:blipFill>
        <p:spPr>
          <a:xfrm>
            <a:off x="568574" y="1142864"/>
            <a:ext cx="2723285" cy="2735024"/>
          </a:xfrm>
          <a:prstGeom prst="rect">
            <a:avLst/>
          </a:prstGeom>
        </p:spPr>
      </p:pic>
      <p:pic>
        <p:nvPicPr>
          <p:cNvPr id="5" name="图片 4">
            <a:extLst>
              <a:ext uri="{FF2B5EF4-FFF2-40B4-BE49-F238E27FC236}">
                <a16:creationId xmlns:a16="http://schemas.microsoft.com/office/drawing/2014/main" id="{E9AC74A2-EDD9-B932-4D43-FA4D99E1474A}"/>
              </a:ext>
            </a:extLst>
          </p:cNvPr>
          <p:cNvPicPr>
            <a:picLocks noChangeAspect="1"/>
          </p:cNvPicPr>
          <p:nvPr/>
        </p:nvPicPr>
        <p:blipFill>
          <a:blip r:embed="rId3"/>
          <a:stretch>
            <a:fillRect/>
          </a:stretch>
        </p:blipFill>
        <p:spPr>
          <a:xfrm>
            <a:off x="3407913" y="0"/>
            <a:ext cx="9765293" cy="6858000"/>
          </a:xfrm>
          <a:prstGeom prst="rect">
            <a:avLst/>
          </a:prstGeom>
        </p:spPr>
      </p:pic>
    </p:spTree>
    <p:extLst>
      <p:ext uri="{BB962C8B-B14F-4D97-AF65-F5344CB8AC3E}">
        <p14:creationId xmlns:p14="http://schemas.microsoft.com/office/powerpoint/2010/main" val="87002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F8EA4087-FE27-CA05-A3F0-F0AF506621A5}"/>
              </a:ext>
            </a:extLst>
          </p:cNvPr>
          <p:cNvPicPr>
            <a:picLocks noChangeAspect="1"/>
          </p:cNvPicPr>
          <p:nvPr/>
        </p:nvPicPr>
        <p:blipFill>
          <a:blip r:embed="rId2"/>
          <a:srcRect l="2634" t="2183" r="3802" b="12876"/>
          <a:stretch/>
        </p:blipFill>
        <p:spPr>
          <a:xfrm>
            <a:off x="1867546" y="178231"/>
            <a:ext cx="8136610" cy="5385660"/>
          </a:xfrm>
          <a:prstGeom prst="rect">
            <a:avLst/>
          </a:prstGeom>
        </p:spPr>
      </p:pic>
      <p:pic>
        <p:nvPicPr>
          <p:cNvPr id="12" name="图片 11">
            <a:extLst>
              <a:ext uri="{FF2B5EF4-FFF2-40B4-BE49-F238E27FC236}">
                <a16:creationId xmlns:a16="http://schemas.microsoft.com/office/drawing/2014/main" id="{756C306D-46F1-1ED6-1964-A8CFBB82E72C}"/>
              </a:ext>
            </a:extLst>
          </p:cNvPr>
          <p:cNvPicPr>
            <a:picLocks noChangeAspect="1"/>
          </p:cNvPicPr>
          <p:nvPr/>
        </p:nvPicPr>
        <p:blipFill>
          <a:blip r:embed="rId3"/>
          <a:stretch>
            <a:fillRect/>
          </a:stretch>
        </p:blipFill>
        <p:spPr>
          <a:xfrm>
            <a:off x="1896687" y="4706521"/>
            <a:ext cx="8078327" cy="2019743"/>
          </a:xfrm>
          <a:prstGeom prst="rect">
            <a:avLst/>
          </a:prstGeom>
        </p:spPr>
      </p:pic>
    </p:spTree>
    <p:extLst>
      <p:ext uri="{BB962C8B-B14F-4D97-AF65-F5344CB8AC3E}">
        <p14:creationId xmlns:p14="http://schemas.microsoft.com/office/powerpoint/2010/main" val="3477577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80A1A84-EEFE-6B84-64B9-0DC969220B1F}"/>
              </a:ext>
            </a:extLst>
          </p:cNvPr>
          <p:cNvSpPr txBox="1"/>
          <p:nvPr/>
        </p:nvSpPr>
        <p:spPr>
          <a:xfrm>
            <a:off x="715277" y="366455"/>
            <a:ext cx="7188257" cy="523220"/>
          </a:xfrm>
          <a:prstGeom prst="rect">
            <a:avLst/>
          </a:prstGeom>
          <a:noFill/>
        </p:spPr>
        <p:txBody>
          <a:bodyPr wrap="square">
            <a:spAutoFit/>
          </a:bodyPr>
          <a:lstStyle>
            <a:defPPr>
              <a:defRPr lang="zh-CN"/>
            </a:defPPr>
            <a:lvl1pPr>
              <a:defRPr sz="2800" b="1">
                <a:latin typeface="Times New Roman" panose="02020603050405020304" pitchFamily="18" charset="0"/>
                <a:cs typeface="Times New Roman" panose="02020603050405020304" pitchFamily="18" charset="0"/>
              </a:defRPr>
            </a:lvl1pPr>
          </a:lstStyle>
          <a:p>
            <a:r>
              <a:rPr lang="en-US" altLang="zh-CN" dirty="0"/>
              <a:t>How to draw a point?</a:t>
            </a:r>
            <a:endParaRPr lang="zh-CN" altLang="en-US" dirty="0"/>
          </a:p>
        </p:txBody>
      </p:sp>
      <p:sp>
        <p:nvSpPr>
          <p:cNvPr id="3" name="矩形 2">
            <a:extLst>
              <a:ext uri="{FF2B5EF4-FFF2-40B4-BE49-F238E27FC236}">
                <a16:creationId xmlns:a16="http://schemas.microsoft.com/office/drawing/2014/main" id="{BBA51F00-DBF2-55F4-CC05-EF09884F85DE}"/>
              </a:ext>
            </a:extLst>
          </p:cNvPr>
          <p:cNvSpPr/>
          <p:nvPr/>
        </p:nvSpPr>
        <p:spPr>
          <a:xfrm>
            <a:off x="876960" y="767230"/>
            <a:ext cx="3681329" cy="2195794"/>
          </a:xfrm>
          <a:prstGeom prst="rect">
            <a:avLst/>
          </a:prstGeom>
        </p:spPr>
        <p:txBody>
          <a:bodyPr wrap="none">
            <a:spAutoFit/>
          </a:bodyPr>
          <a:lstStyle/>
          <a:p>
            <a:pPr marL="514350" indent="-514350">
              <a:lnSpc>
                <a:spcPct val="200000"/>
              </a:lnSpc>
              <a:buAutoNum type="arabicPeriod"/>
            </a:pPr>
            <a:r>
              <a:rPr lang="en-US" altLang="zh-CN" sz="2400" dirty="0" err="1">
                <a:latin typeface="Times New Roman" panose="02020603050405020304" pitchFamily="18" charset="0"/>
                <a:cs typeface="Times New Roman" panose="02020603050405020304" pitchFamily="18" charset="0"/>
              </a:rPr>
              <a:t>Setcursor</a:t>
            </a:r>
            <a:endParaRPr lang="en-US" altLang="zh-CN" sz="2400" dirty="0">
              <a:latin typeface="Times New Roman" panose="02020603050405020304" pitchFamily="18" charset="0"/>
              <a:cs typeface="Times New Roman" panose="02020603050405020304" pitchFamily="18" charset="0"/>
            </a:endParaRPr>
          </a:p>
          <a:p>
            <a:pPr marL="514350" indent="-514350">
              <a:lnSpc>
                <a:spcPct val="200000"/>
              </a:lnSpc>
              <a:buAutoNum type="arabicPeriod"/>
            </a:pPr>
            <a:r>
              <a:rPr lang="en-US" altLang="zh-CN" sz="2400" dirty="0">
                <a:latin typeface="Times New Roman" panose="02020603050405020304" pitchFamily="18" charset="0"/>
                <a:cs typeface="Times New Roman" panose="02020603050405020304" pitchFamily="18" charset="0"/>
              </a:rPr>
              <a:t>Write GRAM command</a:t>
            </a:r>
          </a:p>
          <a:p>
            <a:pPr marL="514350" indent="-514350">
              <a:lnSpc>
                <a:spcPct val="200000"/>
              </a:lnSpc>
              <a:buAutoNum type="arabicPeriod"/>
            </a:pPr>
            <a:r>
              <a:rPr lang="en-US" altLang="zh-CN" sz="2400" dirty="0">
                <a:latin typeface="Times New Roman" panose="02020603050405020304" pitchFamily="18" charset="0"/>
                <a:cs typeface="Times New Roman" panose="02020603050405020304" pitchFamily="18" charset="0"/>
              </a:rPr>
              <a:t>Write color data</a:t>
            </a:r>
          </a:p>
        </p:txBody>
      </p:sp>
      <p:sp>
        <p:nvSpPr>
          <p:cNvPr id="9" name="文本框 8">
            <a:extLst>
              <a:ext uri="{FF2B5EF4-FFF2-40B4-BE49-F238E27FC236}">
                <a16:creationId xmlns:a16="http://schemas.microsoft.com/office/drawing/2014/main" id="{0954561D-8ACA-69E7-A9B0-36B327924146}"/>
              </a:ext>
            </a:extLst>
          </p:cNvPr>
          <p:cNvSpPr txBox="1"/>
          <p:nvPr/>
        </p:nvSpPr>
        <p:spPr>
          <a:xfrm>
            <a:off x="1611143" y="3179133"/>
            <a:ext cx="6097384" cy="369332"/>
          </a:xfrm>
          <a:prstGeom prst="rect">
            <a:avLst/>
          </a:prstGeom>
          <a:noFill/>
        </p:spPr>
        <p:txBody>
          <a:bodyPr wrap="square">
            <a:spAutoFit/>
          </a:bodyPr>
          <a:lstStyle/>
          <a:p>
            <a:r>
              <a:rPr lang="zh-CN" altLang="en-US">
                <a:latin typeface="Times New Roman" panose="02020603050405020304" pitchFamily="18" charset="0"/>
                <a:cs typeface="Times New Roman" panose="02020603050405020304" pitchFamily="18" charset="0"/>
              </a:rPr>
              <a:t>LCD-&gt;LCD_RAM</a:t>
            </a:r>
          </a:p>
        </p:txBody>
      </p:sp>
    </p:spTree>
    <p:extLst>
      <p:ext uri="{BB962C8B-B14F-4D97-AF65-F5344CB8AC3E}">
        <p14:creationId xmlns:p14="http://schemas.microsoft.com/office/powerpoint/2010/main" val="788998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767687A0-2B4C-C1F3-3C3A-ED4871F73B9F}"/>
              </a:ext>
            </a:extLst>
          </p:cNvPr>
          <p:cNvSpPr txBox="1"/>
          <p:nvPr/>
        </p:nvSpPr>
        <p:spPr>
          <a:xfrm>
            <a:off x="790091" y="1091802"/>
            <a:ext cx="9750447" cy="2616101"/>
          </a:xfrm>
          <a:prstGeom prst="rect">
            <a:avLst/>
          </a:prstGeom>
          <a:noFill/>
        </p:spPr>
        <p:txBody>
          <a:bodyPr wrap="square">
            <a:spAutoFit/>
          </a:bodyPr>
          <a:lstStyle/>
          <a:p>
            <a:pPr marL="457200" indent="-457200">
              <a:spcBef>
                <a:spcPts val="1200"/>
              </a:spcBef>
              <a:buFont typeface="+mj-lt"/>
              <a:buAutoNum type="arabicPeriod"/>
            </a:pPr>
            <a:r>
              <a:rPr lang="zh-CN" altLang="en-US" sz="2400" dirty="0">
                <a:latin typeface="Times New Roman" panose="02020603050405020304" pitchFamily="18" charset="0"/>
                <a:cs typeface="Times New Roman" panose="02020603050405020304" pitchFamily="18" charset="0"/>
              </a:rPr>
              <a:t>By the size of the characters to be displayed, the number of bytes occupied by a single character model is calculated using the formula.</a:t>
            </a:r>
          </a:p>
          <a:p>
            <a:pPr marL="457200" indent="-457200">
              <a:spcBef>
                <a:spcPts val="1200"/>
              </a:spcBef>
              <a:buFont typeface="+mj-lt"/>
              <a:buAutoNum type="arabicPeriod"/>
            </a:pPr>
            <a:r>
              <a:rPr lang="zh-CN" altLang="en-US" sz="2400" dirty="0">
                <a:latin typeface="Times New Roman" panose="02020603050405020304" pitchFamily="18" charset="0"/>
                <a:cs typeface="Times New Roman" panose="02020603050405020304" pitchFamily="18" charset="0"/>
              </a:rPr>
              <a:t>Call the corresponding size (font size) of the font, here made three sizes of font, 12</a:t>
            </a:r>
            <a:r>
              <a:rPr lang="en-US" altLang="zh-CN" sz="2400" dirty="0">
                <a:latin typeface="Times New Roman" panose="02020603050405020304" pitchFamily="18" charset="0"/>
                <a:cs typeface="Times New Roman" panose="02020603050405020304" pitchFamily="18" charset="0"/>
              </a:rPr>
              <a:t>*12</a:t>
            </a:r>
            <a:r>
              <a:rPr lang="zh-CN" altLang="en-US" sz="2400" dirty="0">
                <a:latin typeface="Times New Roman" panose="02020603050405020304" pitchFamily="18" charset="0"/>
                <a:cs typeface="Times New Roman" panose="02020603050405020304" pitchFamily="18" charset="0"/>
              </a:rPr>
              <a:t>, 16</a:t>
            </a:r>
            <a:r>
              <a:rPr lang="en-US" altLang="zh-CN" sz="2400" dirty="0">
                <a:latin typeface="Times New Roman" panose="02020603050405020304" pitchFamily="18" charset="0"/>
                <a:cs typeface="Times New Roman" panose="02020603050405020304" pitchFamily="18" charset="0"/>
              </a:rPr>
              <a:t>*16</a:t>
            </a:r>
            <a:r>
              <a:rPr lang="zh-CN" altLang="en-US" sz="2400" dirty="0">
                <a:latin typeface="Times New Roman" panose="02020603050405020304" pitchFamily="18" charset="0"/>
                <a:cs typeface="Times New Roman" panose="02020603050405020304" pitchFamily="18" charset="0"/>
              </a:rPr>
              <a:t>, and 24 * </a:t>
            </a:r>
            <a:r>
              <a:rPr lang="en-US" altLang="zh-CN" sz="2400" dirty="0">
                <a:latin typeface="Times New Roman" panose="02020603050405020304" pitchFamily="18" charset="0"/>
                <a:cs typeface="Times New Roman" panose="02020603050405020304" pitchFamily="18" charset="0"/>
              </a:rPr>
              <a:t>24</a:t>
            </a:r>
            <a:endParaRPr lang="zh-CN" altLang="en-US" sz="2400" dirty="0">
              <a:latin typeface="Times New Roman" panose="02020603050405020304" pitchFamily="18" charset="0"/>
              <a:cs typeface="Times New Roman" panose="02020603050405020304" pitchFamily="18" charset="0"/>
            </a:endParaRPr>
          </a:p>
          <a:p>
            <a:pPr marL="457200" indent="-457200">
              <a:spcBef>
                <a:spcPts val="1200"/>
              </a:spcBef>
              <a:buFont typeface="+mj-lt"/>
              <a:buAutoNum type="arabicPeriod"/>
            </a:pPr>
            <a:r>
              <a:rPr lang="en-US" altLang="zh-CN" sz="2400" dirty="0">
                <a:latin typeface="Times New Roman" panose="02020603050405020304" pitchFamily="18" charset="0"/>
                <a:cs typeface="Times New Roman" panose="02020603050405020304" pitchFamily="18" charset="0"/>
              </a:rPr>
              <a:t>T</a:t>
            </a:r>
            <a:r>
              <a:rPr lang="zh-CN" altLang="en-US" sz="2400" dirty="0">
                <a:latin typeface="Times New Roman" panose="02020603050405020304" pitchFamily="18" charset="0"/>
                <a:cs typeface="Times New Roman" panose="02020603050405020304" pitchFamily="18" charset="0"/>
              </a:rPr>
              <a:t>hrough the loop to determine the font in a single byte in each bit of the font, if </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1, then fill the pixel</a:t>
            </a:r>
          </a:p>
        </p:txBody>
      </p:sp>
      <p:sp>
        <p:nvSpPr>
          <p:cNvPr id="4" name="文本框 3">
            <a:extLst>
              <a:ext uri="{FF2B5EF4-FFF2-40B4-BE49-F238E27FC236}">
                <a16:creationId xmlns:a16="http://schemas.microsoft.com/office/drawing/2014/main" id="{6C15B645-0D53-502F-BFC1-679635DFFD83}"/>
              </a:ext>
            </a:extLst>
          </p:cNvPr>
          <p:cNvSpPr txBox="1"/>
          <p:nvPr/>
        </p:nvSpPr>
        <p:spPr>
          <a:xfrm>
            <a:off x="715277" y="366455"/>
            <a:ext cx="7188257" cy="523220"/>
          </a:xfrm>
          <a:prstGeom prst="rect">
            <a:avLst/>
          </a:prstGeom>
          <a:noFill/>
        </p:spPr>
        <p:txBody>
          <a:bodyPr wrap="square">
            <a:spAutoFit/>
          </a:bodyPr>
          <a:lstStyle>
            <a:defPPr>
              <a:defRPr lang="zh-CN"/>
            </a:defPPr>
            <a:lvl1pPr>
              <a:defRPr sz="2800" b="1">
                <a:latin typeface="Times New Roman" panose="02020603050405020304" pitchFamily="18" charset="0"/>
                <a:cs typeface="Times New Roman" panose="02020603050405020304" pitchFamily="18" charset="0"/>
              </a:defRPr>
            </a:lvl1pPr>
          </a:lstStyle>
          <a:p>
            <a:r>
              <a:rPr lang="en-US" altLang="zh-CN" dirty="0"/>
              <a:t>How to draw a character?</a:t>
            </a:r>
            <a:endParaRPr lang="zh-CN" altLang="en-US" dirty="0"/>
          </a:p>
        </p:txBody>
      </p:sp>
      <p:sp>
        <p:nvSpPr>
          <p:cNvPr id="6" name="文本框 5">
            <a:extLst>
              <a:ext uri="{FF2B5EF4-FFF2-40B4-BE49-F238E27FC236}">
                <a16:creationId xmlns:a16="http://schemas.microsoft.com/office/drawing/2014/main" id="{0B1FFEB7-925B-E9B5-4A85-983CCEBE1597}"/>
              </a:ext>
            </a:extLst>
          </p:cNvPr>
          <p:cNvSpPr txBox="1"/>
          <p:nvPr/>
        </p:nvSpPr>
        <p:spPr>
          <a:xfrm>
            <a:off x="4204163" y="3910030"/>
            <a:ext cx="3061161" cy="461665"/>
          </a:xfrm>
          <a:prstGeom prst="rect">
            <a:avLst/>
          </a:prstGeom>
          <a:noFill/>
        </p:spPr>
        <p:txBody>
          <a:bodyPr wrap="square">
            <a:spAutoFit/>
          </a:bodyPr>
          <a:lstStyle/>
          <a:p>
            <a:r>
              <a:rPr lang="zh-CN" altLang="en-US" sz="2400" dirty="0">
                <a:latin typeface="Times New Roman" panose="02020603050405020304" pitchFamily="18" charset="0"/>
                <a:cs typeface="Times New Roman" panose="02020603050405020304" pitchFamily="18" charset="0"/>
              </a:rPr>
              <a:t>asc2_1206</a:t>
            </a:r>
          </a:p>
        </p:txBody>
      </p:sp>
      <p:sp>
        <p:nvSpPr>
          <p:cNvPr id="7" name="文本框 6">
            <a:extLst>
              <a:ext uri="{FF2B5EF4-FFF2-40B4-BE49-F238E27FC236}">
                <a16:creationId xmlns:a16="http://schemas.microsoft.com/office/drawing/2014/main" id="{C3DE4F72-78A1-01AB-7FFC-ADA50F435CA8}"/>
              </a:ext>
            </a:extLst>
          </p:cNvPr>
          <p:cNvSpPr txBox="1"/>
          <p:nvPr/>
        </p:nvSpPr>
        <p:spPr>
          <a:xfrm>
            <a:off x="4204161" y="4561988"/>
            <a:ext cx="3061161" cy="461665"/>
          </a:xfrm>
          <a:prstGeom prst="rect">
            <a:avLst/>
          </a:prstGeom>
          <a:noFill/>
        </p:spPr>
        <p:txBody>
          <a:bodyPr wrap="square">
            <a:spAutoFit/>
          </a:bodyPr>
          <a:lstStyle/>
          <a:p>
            <a:r>
              <a:rPr lang="zh-CN" altLang="en-US" sz="2400" dirty="0">
                <a:latin typeface="Times New Roman" panose="02020603050405020304" pitchFamily="18" charset="0"/>
                <a:cs typeface="Times New Roman" panose="02020603050405020304" pitchFamily="18" charset="0"/>
              </a:rPr>
              <a:t>asc2_1</a:t>
            </a:r>
            <a:r>
              <a:rPr lang="en-US" altLang="zh-CN" sz="2400" dirty="0">
                <a:latin typeface="Times New Roman" panose="02020603050405020304" pitchFamily="18" charset="0"/>
                <a:cs typeface="Times New Roman" panose="02020603050405020304" pitchFamily="18" charset="0"/>
              </a:rPr>
              <a:t>6</a:t>
            </a:r>
            <a:r>
              <a:rPr lang="zh-CN" altLang="en-US" sz="2400" dirty="0">
                <a:latin typeface="Times New Roman" panose="02020603050405020304" pitchFamily="18" charset="0"/>
                <a:cs typeface="Times New Roman" panose="02020603050405020304" pitchFamily="18" charset="0"/>
              </a:rPr>
              <a:t>0</a:t>
            </a:r>
            <a:r>
              <a:rPr lang="en-US" altLang="zh-CN" sz="2400" dirty="0">
                <a:latin typeface="Times New Roman" panose="02020603050405020304" pitchFamily="18" charset="0"/>
                <a:cs typeface="Times New Roman" panose="02020603050405020304" pitchFamily="18" charset="0"/>
              </a:rPr>
              <a:t>8</a:t>
            </a:r>
            <a:endParaRPr lang="zh-CN" altLang="en-US" sz="240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ABEDA005-BDFF-147C-B1C6-D541417B4370}"/>
              </a:ext>
            </a:extLst>
          </p:cNvPr>
          <p:cNvSpPr txBox="1"/>
          <p:nvPr/>
        </p:nvSpPr>
        <p:spPr>
          <a:xfrm>
            <a:off x="4204162" y="5213946"/>
            <a:ext cx="3061161" cy="461665"/>
          </a:xfrm>
          <a:prstGeom prst="rect">
            <a:avLst/>
          </a:prstGeom>
          <a:noFill/>
        </p:spPr>
        <p:txBody>
          <a:bodyPr wrap="square">
            <a:spAutoFit/>
          </a:bodyPr>
          <a:lstStyle/>
          <a:p>
            <a:r>
              <a:rPr lang="zh-CN" altLang="en-US" sz="2400" dirty="0">
                <a:latin typeface="Times New Roman" panose="02020603050405020304" pitchFamily="18" charset="0"/>
                <a:cs typeface="Times New Roman" panose="02020603050405020304" pitchFamily="18" charset="0"/>
              </a:rPr>
              <a:t>asc2_</a:t>
            </a:r>
            <a:r>
              <a:rPr lang="en-US" altLang="zh-CN" sz="2400" dirty="0">
                <a:latin typeface="Times New Roman" panose="02020603050405020304" pitchFamily="18" charset="0"/>
                <a:cs typeface="Times New Roman" panose="02020603050405020304" pitchFamily="18" charset="0"/>
              </a:rPr>
              <a:t>2412</a:t>
            </a:r>
            <a:endParaRPr lang="zh-CN" altLang="en-US" sz="2400" dirty="0">
              <a:latin typeface="Times New Roman" panose="02020603050405020304" pitchFamily="18" charset="0"/>
              <a:cs typeface="Times New Roman" panose="02020603050405020304" pitchFamily="18" charset="0"/>
            </a:endParaRPr>
          </a:p>
        </p:txBody>
      </p:sp>
      <p:sp>
        <p:nvSpPr>
          <p:cNvPr id="9" name="左大括号 8">
            <a:extLst>
              <a:ext uri="{FF2B5EF4-FFF2-40B4-BE49-F238E27FC236}">
                <a16:creationId xmlns:a16="http://schemas.microsoft.com/office/drawing/2014/main" id="{F7AE3929-2C35-5E02-9EB0-E1400AEF7144}"/>
              </a:ext>
            </a:extLst>
          </p:cNvPr>
          <p:cNvSpPr/>
          <p:nvPr/>
        </p:nvSpPr>
        <p:spPr>
          <a:xfrm>
            <a:off x="1157106" y="3684831"/>
            <a:ext cx="372436" cy="152911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AD4B87ED-E1AB-AC52-9B22-DD823E8D92FD}"/>
              </a:ext>
            </a:extLst>
          </p:cNvPr>
          <p:cNvPicPr>
            <a:picLocks noChangeAspect="1"/>
          </p:cNvPicPr>
          <p:nvPr/>
        </p:nvPicPr>
        <p:blipFill>
          <a:blip r:embed="rId2"/>
          <a:stretch>
            <a:fillRect/>
          </a:stretch>
        </p:blipFill>
        <p:spPr>
          <a:xfrm>
            <a:off x="1466072" y="3633087"/>
            <a:ext cx="1897393" cy="2616101"/>
          </a:xfrm>
          <a:prstGeom prst="rect">
            <a:avLst/>
          </a:prstGeom>
        </p:spPr>
      </p:pic>
      <p:sp>
        <p:nvSpPr>
          <p:cNvPr id="14" name="文本框 13">
            <a:extLst>
              <a:ext uri="{FF2B5EF4-FFF2-40B4-BE49-F238E27FC236}">
                <a16:creationId xmlns:a16="http://schemas.microsoft.com/office/drawing/2014/main" id="{8CBAB05B-D94F-915D-8786-0AFB88D07064}"/>
              </a:ext>
            </a:extLst>
          </p:cNvPr>
          <p:cNvSpPr txBox="1"/>
          <p:nvPr/>
        </p:nvSpPr>
        <p:spPr>
          <a:xfrm>
            <a:off x="854109" y="4230092"/>
            <a:ext cx="547946" cy="461665"/>
          </a:xfrm>
          <a:prstGeom prst="rect">
            <a:avLst/>
          </a:prstGeom>
          <a:noFill/>
        </p:spPr>
        <p:txBody>
          <a:bodyPr wrap="square">
            <a:spAutoFit/>
          </a:bodyPr>
          <a:lstStyle/>
          <a:p>
            <a:r>
              <a:rPr lang="en-US" altLang="zh-CN" sz="2400" dirty="0">
                <a:latin typeface="Times New Roman" panose="02020603050405020304" pitchFamily="18" charset="0"/>
                <a:cs typeface="Times New Roman" panose="02020603050405020304" pitchFamily="18" charset="0"/>
              </a:rPr>
              <a:t>1</a:t>
            </a:r>
            <a:endParaRPr lang="zh-CN" altLang="en-US" sz="2400" dirty="0">
              <a:latin typeface="Times New Roman" panose="02020603050405020304" pitchFamily="18" charset="0"/>
              <a:cs typeface="Times New Roman" panose="02020603050405020304" pitchFamily="18" charset="0"/>
            </a:endParaRPr>
          </a:p>
        </p:txBody>
      </p:sp>
      <p:sp>
        <p:nvSpPr>
          <p:cNvPr id="15" name="左大括号 14">
            <a:extLst>
              <a:ext uri="{FF2B5EF4-FFF2-40B4-BE49-F238E27FC236}">
                <a16:creationId xmlns:a16="http://schemas.microsoft.com/office/drawing/2014/main" id="{4B94915C-0C48-F5BB-D65E-9FEBB47A2A21}"/>
              </a:ext>
            </a:extLst>
          </p:cNvPr>
          <p:cNvSpPr/>
          <p:nvPr/>
        </p:nvSpPr>
        <p:spPr>
          <a:xfrm>
            <a:off x="1147741" y="5484630"/>
            <a:ext cx="372436" cy="152911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EC03C33F-7C62-308A-9CF0-2DD08E823B3C}"/>
              </a:ext>
            </a:extLst>
          </p:cNvPr>
          <p:cNvSpPr txBox="1"/>
          <p:nvPr/>
        </p:nvSpPr>
        <p:spPr>
          <a:xfrm>
            <a:off x="795378" y="5992922"/>
            <a:ext cx="547946" cy="461665"/>
          </a:xfrm>
          <a:prstGeom prst="rect">
            <a:avLst/>
          </a:prstGeom>
          <a:noFill/>
        </p:spPr>
        <p:txBody>
          <a:bodyPr wrap="square">
            <a:spAutoFit/>
          </a:bodyPr>
          <a:lstStyle/>
          <a:p>
            <a:r>
              <a:rPr lang="en-US" altLang="zh-CN" sz="2400" dirty="0">
                <a:latin typeface="Times New Roman" panose="02020603050405020304" pitchFamily="18" charset="0"/>
                <a:cs typeface="Times New Roman" panose="02020603050405020304" pitchFamily="18" charset="0"/>
              </a:rPr>
              <a:t>2</a:t>
            </a:r>
            <a:endParaRPr lang="zh-CN" altLang="en-US" sz="2400" dirty="0">
              <a:latin typeface="Times New Roman" panose="02020603050405020304" pitchFamily="18" charset="0"/>
              <a:cs typeface="Times New Roman" panose="02020603050405020304" pitchFamily="18" charset="0"/>
            </a:endParaRPr>
          </a:p>
        </p:txBody>
      </p:sp>
      <p:pic>
        <p:nvPicPr>
          <p:cNvPr id="20" name="图片 19">
            <a:extLst>
              <a:ext uri="{FF2B5EF4-FFF2-40B4-BE49-F238E27FC236}">
                <a16:creationId xmlns:a16="http://schemas.microsoft.com/office/drawing/2014/main" id="{EBEC044E-0D70-0BEA-6AF0-8448A3CC053D}"/>
              </a:ext>
            </a:extLst>
          </p:cNvPr>
          <p:cNvPicPr>
            <a:picLocks noChangeAspect="1"/>
          </p:cNvPicPr>
          <p:nvPr/>
        </p:nvPicPr>
        <p:blipFill>
          <a:blip r:embed="rId3"/>
          <a:stretch>
            <a:fillRect/>
          </a:stretch>
        </p:blipFill>
        <p:spPr>
          <a:xfrm>
            <a:off x="5918662" y="3868948"/>
            <a:ext cx="5655999" cy="2219194"/>
          </a:xfrm>
          <a:prstGeom prst="rect">
            <a:avLst/>
          </a:prstGeom>
        </p:spPr>
      </p:pic>
    </p:spTree>
    <p:extLst>
      <p:ext uri="{BB962C8B-B14F-4D97-AF65-F5344CB8AC3E}">
        <p14:creationId xmlns:p14="http://schemas.microsoft.com/office/powerpoint/2010/main" val="2640028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C17440B-B5A9-22FF-13A6-AFEE78CEC11D}"/>
              </a:ext>
            </a:extLst>
          </p:cNvPr>
          <p:cNvSpPr/>
          <p:nvPr/>
        </p:nvSpPr>
        <p:spPr>
          <a:xfrm>
            <a:off x="2200402" y="1029017"/>
            <a:ext cx="2162432" cy="715137"/>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等腰三角形 2">
            <a:extLst>
              <a:ext uri="{FF2B5EF4-FFF2-40B4-BE49-F238E27FC236}">
                <a16:creationId xmlns:a16="http://schemas.microsoft.com/office/drawing/2014/main" id="{13E98E9E-7F8A-613C-B040-CF5F2E8E217A}"/>
              </a:ext>
            </a:extLst>
          </p:cNvPr>
          <p:cNvSpPr/>
          <p:nvPr/>
        </p:nvSpPr>
        <p:spPr>
          <a:xfrm>
            <a:off x="1883318" y="2474818"/>
            <a:ext cx="1037447" cy="954182"/>
          </a:xfrm>
          <a:prstGeom prst="triangle">
            <a:avLst>
              <a:gd name="adj" fmla="val 4832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94B28589-45EE-290E-E1D8-B089254625B7}"/>
              </a:ext>
            </a:extLst>
          </p:cNvPr>
          <p:cNvSpPr/>
          <p:nvPr/>
        </p:nvSpPr>
        <p:spPr>
          <a:xfrm>
            <a:off x="1624395" y="3429000"/>
            <a:ext cx="1768433" cy="369332"/>
          </a:xfrm>
          <a:prstGeom prst="rect">
            <a:avLst/>
          </a:prstGeom>
        </p:spPr>
        <p:txBody>
          <a:bodyPr wrap="none">
            <a:spAutoFit/>
          </a:bodyPr>
          <a:lstStyle/>
          <a:p>
            <a:r>
              <a:rPr lang="zh-CN" altLang="en-US" dirty="0"/>
              <a:t>isosceles triangle</a:t>
            </a:r>
          </a:p>
        </p:txBody>
      </p:sp>
      <p:sp>
        <p:nvSpPr>
          <p:cNvPr id="5" name="矩形 4">
            <a:extLst>
              <a:ext uri="{FF2B5EF4-FFF2-40B4-BE49-F238E27FC236}">
                <a16:creationId xmlns:a16="http://schemas.microsoft.com/office/drawing/2014/main" id="{A3186CFD-8064-B297-478B-CCA0531DD109}"/>
              </a:ext>
            </a:extLst>
          </p:cNvPr>
          <p:cNvSpPr/>
          <p:nvPr/>
        </p:nvSpPr>
        <p:spPr>
          <a:xfrm>
            <a:off x="3479994" y="3429000"/>
            <a:ext cx="1383712" cy="369332"/>
          </a:xfrm>
          <a:prstGeom prst="rect">
            <a:avLst/>
          </a:prstGeom>
        </p:spPr>
        <p:txBody>
          <a:bodyPr wrap="none">
            <a:spAutoFit/>
          </a:bodyPr>
          <a:lstStyle/>
          <a:p>
            <a:r>
              <a:rPr lang="zh-CN" altLang="en-US" dirty="0"/>
              <a:t>right triangle</a:t>
            </a:r>
          </a:p>
        </p:txBody>
      </p:sp>
      <p:sp>
        <p:nvSpPr>
          <p:cNvPr id="6" name="等腰三角形 5">
            <a:extLst>
              <a:ext uri="{FF2B5EF4-FFF2-40B4-BE49-F238E27FC236}">
                <a16:creationId xmlns:a16="http://schemas.microsoft.com/office/drawing/2014/main" id="{8180F0CB-C140-9EBF-C7EF-A46B27EA553A}"/>
              </a:ext>
            </a:extLst>
          </p:cNvPr>
          <p:cNvSpPr/>
          <p:nvPr/>
        </p:nvSpPr>
        <p:spPr>
          <a:xfrm>
            <a:off x="3396011" y="2678506"/>
            <a:ext cx="1410687" cy="750494"/>
          </a:xfrm>
          <a:prstGeom prst="triangl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E691B936-3D6D-2B9B-5393-C50042E428F9}"/>
              </a:ext>
            </a:extLst>
          </p:cNvPr>
          <p:cNvSpPr txBox="1"/>
          <p:nvPr/>
        </p:nvSpPr>
        <p:spPr>
          <a:xfrm>
            <a:off x="3102968" y="2767243"/>
            <a:ext cx="402674" cy="369332"/>
          </a:xfrm>
          <a:prstGeom prst="rect">
            <a:avLst/>
          </a:prstGeom>
          <a:noFill/>
        </p:spPr>
        <p:txBody>
          <a:bodyPr wrap="none" rtlCol="0">
            <a:spAutoFit/>
          </a:bodyPr>
          <a:lstStyle/>
          <a:p>
            <a:r>
              <a:rPr lang="en-US" altLang="zh-CN" b="1" dirty="0"/>
              <a:t>or</a:t>
            </a:r>
            <a:endParaRPr lang="zh-CN" altLang="en-US" b="1" dirty="0"/>
          </a:p>
        </p:txBody>
      </p:sp>
      <p:sp>
        <p:nvSpPr>
          <p:cNvPr id="8" name="文本框 7">
            <a:extLst>
              <a:ext uri="{FF2B5EF4-FFF2-40B4-BE49-F238E27FC236}">
                <a16:creationId xmlns:a16="http://schemas.microsoft.com/office/drawing/2014/main" id="{B1CEA441-C7FE-4625-FAE7-C5F67E3946E7}"/>
              </a:ext>
            </a:extLst>
          </p:cNvPr>
          <p:cNvSpPr txBox="1"/>
          <p:nvPr/>
        </p:nvSpPr>
        <p:spPr>
          <a:xfrm>
            <a:off x="1338591" y="1113963"/>
            <a:ext cx="569387" cy="707886"/>
          </a:xfrm>
          <a:prstGeom prst="rect">
            <a:avLst/>
          </a:prstGeom>
          <a:noFill/>
        </p:spPr>
        <p:txBody>
          <a:bodyPr wrap="none" rtlCol="0">
            <a:spAutoFit/>
          </a:bodyPr>
          <a:lstStyle/>
          <a:p>
            <a:r>
              <a:rPr lang="en-US" altLang="zh-CN" sz="4000" b="1" dirty="0"/>
              <a:t>1.</a:t>
            </a:r>
            <a:endParaRPr lang="zh-CN" altLang="en-US" sz="4000" b="1" dirty="0"/>
          </a:p>
        </p:txBody>
      </p:sp>
      <p:sp>
        <p:nvSpPr>
          <p:cNvPr id="9" name="文本框 8">
            <a:extLst>
              <a:ext uri="{FF2B5EF4-FFF2-40B4-BE49-F238E27FC236}">
                <a16:creationId xmlns:a16="http://schemas.microsoft.com/office/drawing/2014/main" id="{F8A6EED3-0065-813A-278F-FA6397241E2B}"/>
              </a:ext>
            </a:extLst>
          </p:cNvPr>
          <p:cNvSpPr txBox="1"/>
          <p:nvPr/>
        </p:nvSpPr>
        <p:spPr>
          <a:xfrm>
            <a:off x="1313931" y="2541163"/>
            <a:ext cx="569387" cy="707886"/>
          </a:xfrm>
          <a:prstGeom prst="rect">
            <a:avLst/>
          </a:prstGeom>
          <a:noFill/>
        </p:spPr>
        <p:txBody>
          <a:bodyPr wrap="none" rtlCol="0">
            <a:spAutoFit/>
          </a:bodyPr>
          <a:lstStyle/>
          <a:p>
            <a:r>
              <a:rPr lang="en-US" altLang="zh-CN" sz="4000" b="1" dirty="0"/>
              <a:t>2.</a:t>
            </a:r>
            <a:endParaRPr lang="zh-CN" altLang="en-US" sz="4000" b="1" dirty="0"/>
          </a:p>
        </p:txBody>
      </p:sp>
      <p:sp>
        <p:nvSpPr>
          <p:cNvPr id="10" name="等腰三角形 9">
            <a:extLst>
              <a:ext uri="{FF2B5EF4-FFF2-40B4-BE49-F238E27FC236}">
                <a16:creationId xmlns:a16="http://schemas.microsoft.com/office/drawing/2014/main" id="{B21D2908-A5FF-6B58-269A-E272D74B9191}"/>
              </a:ext>
            </a:extLst>
          </p:cNvPr>
          <p:cNvSpPr/>
          <p:nvPr/>
        </p:nvSpPr>
        <p:spPr>
          <a:xfrm>
            <a:off x="2369658" y="4080423"/>
            <a:ext cx="1993176" cy="578358"/>
          </a:xfrm>
          <a:prstGeom prst="triangle">
            <a:avLst>
              <a:gd name="adj" fmla="val 3683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DC3AA77F-2C42-9864-A125-FE1A1F2E15B9}"/>
              </a:ext>
            </a:extLst>
          </p:cNvPr>
          <p:cNvSpPr txBox="1"/>
          <p:nvPr/>
        </p:nvSpPr>
        <p:spPr>
          <a:xfrm>
            <a:off x="1452488" y="4057417"/>
            <a:ext cx="569387" cy="707886"/>
          </a:xfrm>
          <a:prstGeom prst="rect">
            <a:avLst/>
          </a:prstGeom>
          <a:noFill/>
        </p:spPr>
        <p:txBody>
          <a:bodyPr wrap="none" rtlCol="0">
            <a:spAutoFit/>
          </a:bodyPr>
          <a:lstStyle/>
          <a:p>
            <a:r>
              <a:rPr lang="en-US" altLang="zh-CN" sz="4000" b="1" dirty="0"/>
              <a:t>3.</a:t>
            </a:r>
            <a:endParaRPr lang="zh-CN" altLang="en-US" sz="4000" b="1" dirty="0"/>
          </a:p>
        </p:txBody>
      </p:sp>
      <p:sp>
        <p:nvSpPr>
          <p:cNvPr id="12" name="矩形 11">
            <a:extLst>
              <a:ext uri="{FF2B5EF4-FFF2-40B4-BE49-F238E27FC236}">
                <a16:creationId xmlns:a16="http://schemas.microsoft.com/office/drawing/2014/main" id="{6A2CBEC4-3E7E-E712-D398-3BC6DED31090}"/>
              </a:ext>
            </a:extLst>
          </p:cNvPr>
          <p:cNvSpPr/>
          <p:nvPr/>
        </p:nvSpPr>
        <p:spPr>
          <a:xfrm>
            <a:off x="2473317" y="4624127"/>
            <a:ext cx="1742785" cy="369332"/>
          </a:xfrm>
          <a:prstGeom prst="rect">
            <a:avLst/>
          </a:prstGeom>
        </p:spPr>
        <p:txBody>
          <a:bodyPr wrap="none">
            <a:spAutoFit/>
          </a:bodyPr>
          <a:lstStyle/>
          <a:p>
            <a:r>
              <a:rPr lang="zh-CN" altLang="en-US" dirty="0"/>
              <a:t>arbitrary triangle</a:t>
            </a:r>
          </a:p>
        </p:txBody>
      </p:sp>
      <p:sp>
        <p:nvSpPr>
          <p:cNvPr id="13" name="文本框 12">
            <a:extLst>
              <a:ext uri="{FF2B5EF4-FFF2-40B4-BE49-F238E27FC236}">
                <a16:creationId xmlns:a16="http://schemas.microsoft.com/office/drawing/2014/main" id="{7401CA91-8FBE-D13B-68EA-111D7ACEA911}"/>
              </a:ext>
            </a:extLst>
          </p:cNvPr>
          <p:cNvSpPr txBox="1"/>
          <p:nvPr/>
        </p:nvSpPr>
        <p:spPr>
          <a:xfrm>
            <a:off x="1451865" y="5209385"/>
            <a:ext cx="569387" cy="707886"/>
          </a:xfrm>
          <a:prstGeom prst="rect">
            <a:avLst/>
          </a:prstGeom>
          <a:noFill/>
        </p:spPr>
        <p:txBody>
          <a:bodyPr wrap="none" rtlCol="0">
            <a:spAutoFit/>
          </a:bodyPr>
          <a:lstStyle/>
          <a:p>
            <a:r>
              <a:rPr lang="en-US" altLang="zh-CN" sz="4000" b="1" dirty="0"/>
              <a:t>4.</a:t>
            </a:r>
            <a:endParaRPr lang="zh-CN" altLang="en-US" sz="4000" b="1" dirty="0"/>
          </a:p>
        </p:txBody>
      </p:sp>
      <p:sp>
        <p:nvSpPr>
          <p:cNvPr id="14" name="椭圆 13">
            <a:extLst>
              <a:ext uri="{FF2B5EF4-FFF2-40B4-BE49-F238E27FC236}">
                <a16:creationId xmlns:a16="http://schemas.microsoft.com/office/drawing/2014/main" id="{5C25EE8E-777D-6442-2A73-E204FB634C4A}"/>
              </a:ext>
            </a:extLst>
          </p:cNvPr>
          <p:cNvSpPr/>
          <p:nvPr/>
        </p:nvSpPr>
        <p:spPr>
          <a:xfrm>
            <a:off x="2714010" y="5209385"/>
            <a:ext cx="1180589" cy="116610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3863FA36-7EC6-F34C-D652-2C4465041CDB}"/>
              </a:ext>
            </a:extLst>
          </p:cNvPr>
          <p:cNvSpPr txBox="1"/>
          <p:nvPr/>
        </p:nvSpPr>
        <p:spPr>
          <a:xfrm>
            <a:off x="300470" y="368702"/>
            <a:ext cx="5269057" cy="523220"/>
          </a:xfrm>
          <a:prstGeom prst="rect">
            <a:avLst/>
          </a:prstGeom>
          <a:noFill/>
        </p:spPr>
        <p:txBody>
          <a:bodyPr wrap="square">
            <a:spAutoFit/>
          </a:bodyPr>
          <a:lstStyle>
            <a:defPPr>
              <a:defRPr lang="zh-CN"/>
            </a:defPPr>
            <a:lvl1pPr>
              <a:defRPr sz="2800" b="1">
                <a:latin typeface="Times New Roman" panose="02020603050405020304" pitchFamily="18" charset="0"/>
                <a:cs typeface="Times New Roman" panose="02020603050405020304" pitchFamily="18" charset="0"/>
              </a:defRPr>
            </a:lvl1pPr>
          </a:lstStyle>
          <a:p>
            <a:r>
              <a:rPr lang="en-US" altLang="zh-CN" dirty="0"/>
              <a:t>Experiment 1: </a:t>
            </a:r>
            <a:r>
              <a:rPr lang="en-US" altLang="zh-CN" b="0" dirty="0"/>
              <a:t>Use LCD to draw</a:t>
            </a:r>
            <a:endParaRPr lang="zh-CN" altLang="en-US" dirty="0"/>
          </a:p>
        </p:txBody>
      </p:sp>
      <p:sp>
        <p:nvSpPr>
          <p:cNvPr id="20" name="文本框 19">
            <a:extLst>
              <a:ext uri="{FF2B5EF4-FFF2-40B4-BE49-F238E27FC236}">
                <a16:creationId xmlns:a16="http://schemas.microsoft.com/office/drawing/2014/main" id="{D920CD81-CDCA-8CD6-E7F7-585D8C88F97B}"/>
              </a:ext>
            </a:extLst>
          </p:cNvPr>
          <p:cNvSpPr txBox="1"/>
          <p:nvPr/>
        </p:nvSpPr>
        <p:spPr>
          <a:xfrm>
            <a:off x="6398029" y="379475"/>
            <a:ext cx="5569527" cy="523220"/>
          </a:xfrm>
          <a:prstGeom prst="rect">
            <a:avLst/>
          </a:prstGeom>
          <a:noFill/>
        </p:spPr>
        <p:txBody>
          <a:bodyPr wrap="square">
            <a:spAutoFit/>
          </a:bodyPr>
          <a:lstStyle>
            <a:defPPr>
              <a:defRPr lang="zh-CN"/>
            </a:defPPr>
            <a:lvl1pPr>
              <a:defRPr sz="2800" b="1">
                <a:latin typeface="Times New Roman" panose="02020603050405020304" pitchFamily="18" charset="0"/>
                <a:cs typeface="Times New Roman" panose="02020603050405020304" pitchFamily="18" charset="0"/>
              </a:defRPr>
            </a:lvl1pPr>
          </a:lstStyle>
          <a:p>
            <a:r>
              <a:rPr lang="en-US" altLang="zh-CN" dirty="0"/>
              <a:t>Experiment 2: </a:t>
            </a:r>
            <a:r>
              <a:rPr lang="en-US" altLang="zh-CN" b="0" dirty="0"/>
              <a:t>Use LCD to display</a:t>
            </a:r>
            <a:endParaRPr lang="zh-CN" altLang="en-US" dirty="0"/>
          </a:p>
        </p:txBody>
      </p:sp>
      <p:sp>
        <p:nvSpPr>
          <p:cNvPr id="21" name="文本框 20">
            <a:extLst>
              <a:ext uri="{FF2B5EF4-FFF2-40B4-BE49-F238E27FC236}">
                <a16:creationId xmlns:a16="http://schemas.microsoft.com/office/drawing/2014/main" id="{2CDCE13A-10C3-748E-9676-2864CB7A098B}"/>
              </a:ext>
            </a:extLst>
          </p:cNvPr>
          <p:cNvSpPr txBox="1"/>
          <p:nvPr/>
        </p:nvSpPr>
        <p:spPr>
          <a:xfrm>
            <a:off x="6265708" y="1010017"/>
            <a:ext cx="5834167" cy="3246530"/>
          </a:xfrm>
          <a:prstGeom prst="rect">
            <a:avLst/>
          </a:prstGeom>
          <a:noFill/>
        </p:spPr>
        <p:txBody>
          <a:bodyPr wrap="square">
            <a:spAutoFit/>
          </a:bodyPr>
          <a:lstStyle/>
          <a:p>
            <a:pPr marL="514350" indent="-514350">
              <a:lnSpc>
                <a:spcPct val="150000"/>
              </a:lnSpc>
              <a:buAutoNum type="arabicPeriod"/>
            </a:pPr>
            <a:r>
              <a:rPr lang="en-US" altLang="zh-CN" sz="2800" dirty="0">
                <a:latin typeface="Times New Roman" panose="02020603050405020304" pitchFamily="18" charset="0"/>
                <a:cs typeface="Times New Roman" panose="02020603050405020304" pitchFamily="18" charset="0"/>
              </a:rPr>
              <a:t>The names of the group members</a:t>
            </a:r>
          </a:p>
          <a:p>
            <a:pPr marL="514350" indent="-514350">
              <a:lnSpc>
                <a:spcPct val="150000"/>
              </a:lnSpc>
              <a:buAutoNum type="arabicPeriod"/>
            </a:pPr>
            <a:r>
              <a:rPr lang="en-US" altLang="zh-CN" sz="2800" dirty="0">
                <a:latin typeface="Times New Roman" panose="02020603050405020304" pitchFamily="18" charset="0"/>
                <a:cs typeface="Times New Roman" panose="02020603050405020304" pitchFamily="18" charset="0"/>
              </a:rPr>
              <a:t>Timer, count from 00:00 to 59:59</a:t>
            </a:r>
          </a:p>
          <a:p>
            <a:pPr marL="514350" indent="-514350">
              <a:lnSpc>
                <a:spcPct val="150000"/>
              </a:lnSpc>
              <a:buAutoNum type="arabicPeriod"/>
            </a:pPr>
            <a:r>
              <a:rPr lang="en-US" altLang="zh-CN" sz="2800" dirty="0">
                <a:latin typeface="Times New Roman" panose="02020603050405020304" pitchFamily="18" charset="0"/>
                <a:cs typeface="Times New Roman" panose="02020603050405020304" pitchFamily="18" charset="0"/>
              </a:rPr>
              <a:t>Use AD to control the rotation speed of the DC motor, and display it on the LCD screen</a:t>
            </a:r>
            <a:endParaRPr lang="zh-CN" altLang="en-US" sz="2800" dirty="0">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279A522C-3ADE-05D0-838B-8DFA372C813A}"/>
              </a:ext>
            </a:extLst>
          </p:cNvPr>
          <p:cNvSpPr txBox="1"/>
          <p:nvPr/>
        </p:nvSpPr>
        <p:spPr>
          <a:xfrm>
            <a:off x="552308" y="6335410"/>
            <a:ext cx="6089548" cy="523220"/>
          </a:xfrm>
          <a:prstGeom prst="rect">
            <a:avLst/>
          </a:prstGeom>
          <a:noFill/>
        </p:spPr>
        <p:txBody>
          <a:bodyPr wrap="square">
            <a:spAutoFit/>
          </a:bodyPr>
          <a:lstStyle/>
          <a:p>
            <a:r>
              <a:rPr lang="en-US" altLang="zh-CN" sz="2800" dirty="0">
                <a:latin typeface="Times New Roman" panose="02020603050405020304" pitchFamily="18" charset="0"/>
                <a:cs typeface="Times New Roman" panose="02020603050405020304" pitchFamily="18" charset="0"/>
              </a:rPr>
              <a:t>And their corresponding filled patterns</a:t>
            </a:r>
            <a:endParaRPr lang="zh-CN" altLang="en-US" sz="2800" dirty="0">
              <a:latin typeface="Times New Roman" panose="02020603050405020304" pitchFamily="18" charset="0"/>
              <a:cs typeface="Times New Roman" panose="02020603050405020304" pitchFamily="18" charset="0"/>
            </a:endParaRPr>
          </a:p>
        </p:txBody>
      </p:sp>
      <p:pic>
        <p:nvPicPr>
          <p:cNvPr id="16" name="图片 15">
            <a:extLst>
              <a:ext uri="{FF2B5EF4-FFF2-40B4-BE49-F238E27FC236}">
                <a16:creationId xmlns:a16="http://schemas.microsoft.com/office/drawing/2014/main" id="{7C7A8F9A-7056-C944-4280-C06A23EBF4FD}"/>
              </a:ext>
            </a:extLst>
          </p:cNvPr>
          <p:cNvPicPr>
            <a:picLocks noChangeAspect="1"/>
          </p:cNvPicPr>
          <p:nvPr/>
        </p:nvPicPr>
        <p:blipFill>
          <a:blip r:embed="rId2"/>
          <a:stretch>
            <a:fillRect/>
          </a:stretch>
        </p:blipFill>
        <p:spPr>
          <a:xfrm>
            <a:off x="6989638" y="4201418"/>
            <a:ext cx="4193265" cy="2560489"/>
          </a:xfrm>
          <a:prstGeom prst="rect">
            <a:avLst/>
          </a:prstGeom>
        </p:spPr>
      </p:pic>
      <p:sp>
        <p:nvSpPr>
          <p:cNvPr id="17" name="文本框 16">
            <a:extLst>
              <a:ext uri="{FF2B5EF4-FFF2-40B4-BE49-F238E27FC236}">
                <a16:creationId xmlns:a16="http://schemas.microsoft.com/office/drawing/2014/main" id="{2D291CAA-C983-ABF7-AE5B-F95CD9D9F231}"/>
              </a:ext>
            </a:extLst>
          </p:cNvPr>
          <p:cNvSpPr txBox="1"/>
          <p:nvPr/>
        </p:nvSpPr>
        <p:spPr>
          <a:xfrm>
            <a:off x="11051921" y="4363869"/>
            <a:ext cx="915635"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forward</a:t>
            </a:r>
            <a:endParaRPr lang="zh-CN" altLang="en-US"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30666C68-0E80-9008-30FA-8767867A864C}"/>
              </a:ext>
            </a:extLst>
          </p:cNvPr>
          <p:cNvSpPr txBox="1"/>
          <p:nvPr/>
        </p:nvSpPr>
        <p:spPr>
          <a:xfrm>
            <a:off x="11051920" y="4739763"/>
            <a:ext cx="851515"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reverse</a:t>
            </a:r>
            <a:endParaRPr lang="zh-CN" altLang="en-US" dirty="0">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550E54D3-19EE-2F45-02E8-F9C1FE573D5A}"/>
              </a:ext>
            </a:extLst>
          </p:cNvPr>
          <p:cNvSpPr txBox="1"/>
          <p:nvPr/>
        </p:nvSpPr>
        <p:spPr>
          <a:xfrm>
            <a:off x="11053203" y="5092317"/>
            <a:ext cx="710451"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speed</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053696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5584</TotalTime>
  <Words>620</Words>
  <Application>Microsoft Office PowerPoint</Application>
  <PresentationFormat>宽屏</PresentationFormat>
  <Paragraphs>74</Paragraphs>
  <Slides>15</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15</vt:i4>
      </vt:variant>
    </vt:vector>
  </HeadingPairs>
  <TitlesOfParts>
    <vt:vector size="20" baseType="lpstr">
      <vt:lpstr>等线</vt:lpstr>
      <vt:lpstr>等线 Light</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雨时 叶</dc:creator>
  <cp:lastModifiedBy>雨时 叶</cp:lastModifiedBy>
  <cp:revision>24</cp:revision>
  <dcterms:created xsi:type="dcterms:W3CDTF">2024-12-06T06:42:21Z</dcterms:created>
  <dcterms:modified xsi:type="dcterms:W3CDTF">2025-12-15T08:54:59Z</dcterms:modified>
</cp:coreProperties>
</file>